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14" r:id="rId2"/>
    <p:sldId id="256" r:id="rId3"/>
    <p:sldId id="279" r:id="rId4"/>
    <p:sldId id="296" r:id="rId5"/>
    <p:sldId id="297" r:id="rId6"/>
    <p:sldId id="321" r:id="rId7"/>
    <p:sldId id="322" r:id="rId8"/>
    <p:sldId id="298" r:id="rId9"/>
    <p:sldId id="315" r:id="rId10"/>
    <p:sldId id="316" r:id="rId11"/>
    <p:sldId id="317" r:id="rId12"/>
    <p:sldId id="318" r:id="rId13"/>
    <p:sldId id="323" r:id="rId14"/>
    <p:sldId id="324" r:id="rId15"/>
    <p:sldId id="289" r:id="rId16"/>
    <p:sldId id="301" r:id="rId17"/>
    <p:sldId id="299" r:id="rId18"/>
    <p:sldId id="302" r:id="rId19"/>
    <p:sldId id="300" r:id="rId20"/>
    <p:sldId id="303" r:id="rId21"/>
    <p:sldId id="319" r:id="rId22"/>
    <p:sldId id="304" r:id="rId23"/>
    <p:sldId id="320" r:id="rId24"/>
  </p:sldIdLst>
  <p:sldSz cx="9144000" cy="6858000" type="screen4x3"/>
  <p:notesSz cx="6858000" cy="9144000"/>
  <p:custDataLst>
    <p:tags r:id="rId27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 autoAdjust="0"/>
    <p:restoredTop sz="95274" autoAdjust="0"/>
  </p:normalViewPr>
  <p:slideViewPr>
    <p:cSldViewPr>
      <p:cViewPr varScale="1">
        <p:scale>
          <a:sx n="86" d="100"/>
          <a:sy n="86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B34846D-A608-45E4-942A-ADC85FA986DE}"/>
    <pc:docChg chg="custSel modSld">
      <pc:chgData name="Alessandro Ortis" userId="dcdc90ed-3509-45f7-ac48-ad038638580b" providerId="ADAL" clId="{AB34846D-A608-45E4-942A-ADC85FA986DE}" dt="2022-03-09T10:10:50.528" v="415" actId="20577"/>
      <pc:docMkLst>
        <pc:docMk/>
      </pc:docMkLst>
      <pc:sldChg chg="modSp mod">
        <pc:chgData name="Alessandro Ortis" userId="dcdc90ed-3509-45f7-ac48-ad038638580b" providerId="ADAL" clId="{AB34846D-A608-45E4-942A-ADC85FA986DE}" dt="2022-02-21T18:05:06.949" v="0" actId="20577"/>
        <pc:sldMkLst>
          <pc:docMk/>
          <pc:sldMk cId="0" sldId="296"/>
        </pc:sldMkLst>
        <pc:spChg chg="mod">
          <ac:chgData name="Alessandro Ortis" userId="dcdc90ed-3509-45f7-ac48-ad038638580b" providerId="ADAL" clId="{AB34846D-A608-45E4-942A-ADC85FA986DE}" dt="2022-02-21T18:05:06.949" v="0" actId="20577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AB34846D-A608-45E4-942A-ADC85FA986DE}" dt="2022-02-21T18:19:39.468" v="1" actId="20577"/>
        <pc:sldMkLst>
          <pc:docMk/>
          <pc:sldMk cId="0" sldId="297"/>
        </pc:sldMkLst>
        <pc:spChg chg="mod">
          <ac:chgData name="Alessandro Ortis" userId="dcdc90ed-3509-45f7-ac48-ad038638580b" providerId="ADAL" clId="{AB34846D-A608-45E4-942A-ADC85FA986DE}" dt="2022-02-21T18:19:39.468" v="1" actId="20577"/>
          <ac:spMkLst>
            <pc:docMk/>
            <pc:sldMk cId="0" sldId="297"/>
            <ac:spMk id="94223" creationId="{A78BAF2F-ECEC-46DD-96A7-23C6469B856C}"/>
          </ac:spMkLst>
        </pc:spChg>
      </pc:sldChg>
      <pc:sldChg chg="modSp mod">
        <pc:chgData name="Alessandro Ortis" userId="dcdc90ed-3509-45f7-ac48-ad038638580b" providerId="ADAL" clId="{AB34846D-A608-45E4-942A-ADC85FA986DE}" dt="2022-03-09T10:10:50.528" v="415" actId="20577"/>
        <pc:sldMkLst>
          <pc:docMk/>
          <pc:sldMk cId="531386733" sldId="320"/>
        </pc:sldMkLst>
        <pc:spChg chg="mod">
          <ac:chgData name="Alessandro Ortis" userId="dcdc90ed-3509-45f7-ac48-ad038638580b" providerId="ADAL" clId="{AB34846D-A608-45E4-942A-ADC85FA986DE}" dt="2022-03-09T10:10:50.528" v="415" actId="20577"/>
          <ac:spMkLst>
            <pc:docMk/>
            <pc:sldMk cId="531386733" sldId="320"/>
            <ac:spMk id="98307" creationId="{DBCF2E26-DFFE-409B-8EF8-71EB14CAC0FD}"/>
          </ac:spMkLst>
        </pc:spChg>
      </pc:sldChg>
    </pc:docChg>
  </pc:docChgLst>
  <pc:docChgLst>
    <pc:chgData name="Alessandro Ortis" userId="dcdc90ed-3509-45f7-ac48-ad038638580b" providerId="ADAL" clId="{A826549C-3632-45BC-B8B2-99DEC46D0393}"/>
    <pc:docChg chg="undo custSel addSld modSld sldOrd">
      <pc:chgData name="Alessandro Ortis" userId="dcdc90ed-3509-45f7-ac48-ad038638580b" providerId="ADAL" clId="{A826549C-3632-45BC-B8B2-99DEC46D0393}" dt="2022-03-01T19:07:00.866" v="2154" actId="20577"/>
      <pc:docMkLst>
        <pc:docMk/>
      </pc:docMkLst>
      <pc:sldChg chg="ord">
        <pc:chgData name="Alessandro Ortis" userId="dcdc90ed-3509-45f7-ac48-ad038638580b" providerId="ADAL" clId="{A826549C-3632-45BC-B8B2-99DEC46D0393}" dt="2022-03-01T18:26:49.410" v="1183"/>
        <pc:sldMkLst>
          <pc:docMk/>
          <pc:sldMk cId="0" sldId="289"/>
        </pc:sldMkLst>
      </pc:sldChg>
      <pc:sldChg chg="modSp mod">
        <pc:chgData name="Alessandro Ortis" userId="dcdc90ed-3509-45f7-ac48-ad038638580b" providerId="ADAL" clId="{A826549C-3632-45BC-B8B2-99DEC46D0393}" dt="2022-03-01T18:14:31.992" v="561" actId="1076"/>
        <pc:sldMkLst>
          <pc:docMk/>
          <pc:sldMk cId="0" sldId="298"/>
        </pc:sldMkLst>
        <pc:spChg chg="mod">
          <ac:chgData name="Alessandro Ortis" userId="dcdc90ed-3509-45f7-ac48-ad038638580b" providerId="ADAL" clId="{A826549C-3632-45BC-B8B2-99DEC46D0393}" dt="2022-03-01T18:14:28.121" v="560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A826549C-3632-45BC-B8B2-99DEC46D0393}" dt="2022-03-01T18:14:31.992" v="561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A826549C-3632-45BC-B8B2-99DEC46D0393}" dt="2022-03-01T18:36:14.228" v="1432" actId="1035"/>
        <pc:sldMkLst>
          <pc:docMk/>
          <pc:sldMk cId="0" sldId="301"/>
        </pc:sldMkLst>
        <pc:spChg chg="mod">
          <ac:chgData name="Alessandro Ortis" userId="dcdc90ed-3509-45f7-ac48-ad038638580b" providerId="ADAL" clId="{A826549C-3632-45BC-B8B2-99DEC46D0393}" dt="2022-03-01T18:36:14.228" v="1432" actId="1035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A826549C-3632-45BC-B8B2-99DEC46D0393}" dt="2022-03-01T19:07:00.866" v="2154" actId="20577"/>
        <pc:sldMkLst>
          <pc:docMk/>
          <pc:sldMk cId="531386733" sldId="320"/>
        </pc:sldMkLst>
        <pc:spChg chg="mod">
          <ac:chgData name="Alessandro Ortis" userId="dcdc90ed-3509-45f7-ac48-ad038638580b" providerId="ADAL" clId="{A826549C-3632-45BC-B8B2-99DEC46D0393}" dt="2022-03-01T19:07:00.866" v="2154" actId="20577"/>
          <ac:spMkLst>
            <pc:docMk/>
            <pc:sldMk cId="531386733" sldId="320"/>
            <ac:spMk id="98307" creationId="{DBCF2E26-DFFE-409B-8EF8-71EB14CAC0FD}"/>
          </ac:spMkLst>
        </pc:spChg>
      </pc:sldChg>
      <pc:sldChg chg="addSp delSp modSp add mod">
        <pc:chgData name="Alessandro Ortis" userId="dcdc90ed-3509-45f7-ac48-ad038638580b" providerId="ADAL" clId="{A826549C-3632-45BC-B8B2-99DEC46D0393}" dt="2022-03-01T18:12:23.278" v="484" actId="1076"/>
        <pc:sldMkLst>
          <pc:docMk/>
          <pc:sldMk cId="938715561" sldId="321"/>
        </pc:sldMkLst>
        <pc:spChg chg="add mod">
          <ac:chgData name="Alessandro Ortis" userId="dcdc90ed-3509-45f7-ac48-ad038638580b" providerId="ADAL" clId="{A826549C-3632-45BC-B8B2-99DEC46D0393}" dt="2022-03-01T18:12:10.134" v="482" actId="208"/>
          <ac:spMkLst>
            <pc:docMk/>
            <pc:sldMk cId="938715561" sldId="321"/>
            <ac:spMk id="8" creationId="{605450BD-11FD-4A9D-BDCD-1657FB7E3EE1}"/>
          </ac:spMkLst>
        </pc:spChg>
        <pc:spChg chg="mod">
          <ac:chgData name="Alessandro Ortis" userId="dcdc90ed-3509-45f7-ac48-ad038638580b" providerId="ADAL" clId="{A826549C-3632-45BC-B8B2-99DEC46D0393}" dt="2022-03-01T18:08:09.094" v="198" actId="20577"/>
          <ac:spMkLst>
            <pc:docMk/>
            <pc:sldMk cId="938715561" sldId="321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A826549C-3632-45BC-B8B2-99DEC46D0393}" dt="2022-03-01T18:09:22.947" v="298" actId="1076"/>
          <ac:spMkLst>
            <pc:docMk/>
            <pc:sldMk cId="938715561" sldId="321"/>
            <ac:spMk id="94223" creationId="{A78BAF2F-ECEC-46DD-96A7-23C6469B856C}"/>
          </ac:spMkLst>
        </pc:spChg>
        <pc:spChg chg="del">
          <ac:chgData name="Alessandro Ortis" userId="dcdc90ed-3509-45f7-ac48-ad038638580b" providerId="ADAL" clId="{A826549C-3632-45BC-B8B2-99DEC46D0393}" dt="2022-03-01T18:08:32.856" v="210" actId="478"/>
          <ac:spMkLst>
            <pc:docMk/>
            <pc:sldMk cId="938715561" sldId="321"/>
            <ac:spMk id="94225" creationId="{33C7807A-477F-4A0F-A179-3616B2970709}"/>
          </ac:spMkLst>
        </pc:spChg>
        <pc:picChg chg="mod">
          <ac:chgData name="Alessandro Ortis" userId="dcdc90ed-3509-45f7-ac48-ad038638580b" providerId="ADAL" clId="{A826549C-3632-45BC-B8B2-99DEC46D0393}" dt="2022-03-01T18:12:23.278" v="484" actId="1076"/>
          <ac:picMkLst>
            <pc:docMk/>
            <pc:sldMk cId="938715561" sldId="321"/>
            <ac:picMk id="94224" creationId="{013A97B5-A063-4D06-A983-023146A7CE34}"/>
          </ac:picMkLst>
        </pc:picChg>
      </pc:sldChg>
      <pc:sldChg chg="modSp add mod">
        <pc:chgData name="Alessandro Ortis" userId="dcdc90ed-3509-45f7-ac48-ad038638580b" providerId="ADAL" clId="{A826549C-3632-45BC-B8B2-99DEC46D0393}" dt="2022-03-01T18:12:07.010" v="481" actId="208"/>
        <pc:sldMkLst>
          <pc:docMk/>
          <pc:sldMk cId="685739306" sldId="322"/>
        </pc:sldMkLst>
        <pc:spChg chg="mod">
          <ac:chgData name="Alessandro Ortis" userId="dcdc90ed-3509-45f7-ac48-ad038638580b" providerId="ADAL" clId="{A826549C-3632-45BC-B8B2-99DEC46D0393}" dt="2022-03-01T18:12:07.010" v="481" actId="208"/>
          <ac:spMkLst>
            <pc:docMk/>
            <pc:sldMk cId="685739306" sldId="322"/>
            <ac:spMk id="8" creationId="{605450BD-11FD-4A9D-BDCD-1657FB7E3EE1}"/>
          </ac:spMkLst>
        </pc:spChg>
      </pc:sldChg>
      <pc:sldChg chg="addSp delSp modSp add mod">
        <pc:chgData name="Alessandro Ortis" userId="dcdc90ed-3509-45f7-ac48-ad038638580b" providerId="ADAL" clId="{A826549C-3632-45BC-B8B2-99DEC46D0393}" dt="2022-03-01T18:27:04.825" v="1189" actId="20577"/>
        <pc:sldMkLst>
          <pc:docMk/>
          <pc:sldMk cId="3447533805" sldId="323"/>
        </pc:sldMkLst>
        <pc:spChg chg="add mod">
          <ac:chgData name="Alessandro Ortis" userId="dcdc90ed-3509-45f7-ac48-ad038638580b" providerId="ADAL" clId="{A826549C-3632-45BC-B8B2-99DEC46D0393}" dt="2022-03-01T18:27:04.825" v="1189" actId="20577"/>
          <ac:spMkLst>
            <pc:docMk/>
            <pc:sldMk cId="3447533805" sldId="323"/>
            <ac:spMk id="6" creationId="{4165A2F8-6B26-4E5C-BC98-848EEF286F28}"/>
          </ac:spMkLst>
        </pc:spChg>
        <pc:spChg chg="add mod">
          <ac:chgData name="Alessandro Ortis" userId="dcdc90ed-3509-45f7-ac48-ad038638580b" providerId="ADAL" clId="{A826549C-3632-45BC-B8B2-99DEC46D0393}" dt="2022-03-01T18:26:57.596" v="1185" actId="6549"/>
          <ac:spMkLst>
            <pc:docMk/>
            <pc:sldMk cId="3447533805" sldId="323"/>
            <ac:spMk id="7" creationId="{3C0C3A2E-0D40-46FB-9E4F-58B42A0FCB23}"/>
          </ac:spMkLst>
        </pc:spChg>
        <pc:spChg chg="del">
          <ac:chgData name="Alessandro Ortis" userId="dcdc90ed-3509-45f7-ac48-ad038638580b" providerId="ADAL" clId="{A826549C-3632-45BC-B8B2-99DEC46D0393}" dt="2022-03-01T18:18:36.034" v="566" actId="478"/>
          <ac:spMkLst>
            <pc:docMk/>
            <pc:sldMk cId="3447533805" sldId="323"/>
            <ac:spMk id="77830" creationId="{3EEB8755-42E2-4E31-9944-A001B853074C}"/>
          </ac:spMkLst>
        </pc:spChg>
        <pc:spChg chg="del mod">
          <ac:chgData name="Alessandro Ortis" userId="dcdc90ed-3509-45f7-ac48-ad038638580b" providerId="ADAL" clId="{A826549C-3632-45BC-B8B2-99DEC46D0393}" dt="2022-03-01T18:18:33.722" v="565" actId="478"/>
          <ac:spMkLst>
            <pc:docMk/>
            <pc:sldMk cId="3447533805" sldId="323"/>
            <ac:spMk id="77831" creationId="{7878C366-1305-49A0-A515-47653F962BA4}"/>
          </ac:spMkLst>
        </pc:spChg>
        <pc:picChg chg="del">
          <ac:chgData name="Alessandro Ortis" userId="dcdc90ed-3509-45f7-ac48-ad038638580b" providerId="ADAL" clId="{A826549C-3632-45BC-B8B2-99DEC46D0393}" dt="2022-03-01T18:18:29.674" v="563" actId="478"/>
          <ac:picMkLst>
            <pc:docMk/>
            <pc:sldMk cId="3447533805" sldId="323"/>
            <ac:picMk id="77833" creationId="{D8E544BD-1D47-4DD5-A2EC-27D3EEC45B15}"/>
          </ac:picMkLst>
        </pc:picChg>
      </pc:sldChg>
      <pc:sldChg chg="add">
        <pc:chgData name="Alessandro Ortis" userId="dcdc90ed-3509-45f7-ac48-ad038638580b" providerId="ADAL" clId="{A826549C-3632-45BC-B8B2-99DEC46D0393}" dt="2022-03-01T18:26:52.576" v="1184"/>
        <pc:sldMkLst>
          <pc:docMk/>
          <pc:sldMk cId="1989234598" sldId="324"/>
        </pc:sldMkLst>
      </pc:sldChg>
    </pc:docChg>
  </pc:docChgLst>
  <pc:docChgLst>
    <pc:chgData name="Alessandro Ortis" userId="dcdc90ed-3509-45f7-ac48-ad038638580b" providerId="ADAL" clId="{B7182DFB-DA72-424F-832C-DB30461BBB8D}"/>
    <pc:docChg chg="custSel modSld">
      <pc:chgData name="Alessandro Ortis" userId="dcdc90ed-3509-45f7-ac48-ad038638580b" providerId="ADAL" clId="{B7182DFB-DA72-424F-832C-DB30461BBB8D}" dt="2022-03-06T18:24:51.607" v="0" actId="313"/>
      <pc:docMkLst>
        <pc:docMk/>
      </pc:docMkLst>
      <pc:sldChg chg="modSp mod">
        <pc:chgData name="Alessandro Ortis" userId="dcdc90ed-3509-45f7-ac48-ad038638580b" providerId="ADAL" clId="{B7182DFB-DA72-424F-832C-DB30461BBB8D}" dt="2022-03-06T18:24:51.607" v="0" actId="313"/>
        <pc:sldMkLst>
          <pc:docMk/>
          <pc:sldMk cId="531386733" sldId="320"/>
        </pc:sldMkLst>
        <pc:spChg chg="mod">
          <ac:chgData name="Alessandro Ortis" userId="dcdc90ed-3509-45f7-ac48-ad038638580b" providerId="ADAL" clId="{B7182DFB-DA72-424F-832C-DB30461BBB8D}" dt="2022-03-06T18:24:51.607" v="0" actId="313"/>
          <ac:spMkLst>
            <pc:docMk/>
            <pc:sldMk cId="531386733" sldId="320"/>
            <ac:spMk id="98307" creationId="{DBCF2E26-DFFE-409B-8EF8-71EB14CAC0FD}"/>
          </ac:spMkLst>
        </pc:sp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247F500A-9082-4EFD-88B3-90E2E25A5384}"/>
    <pc:docChg chg="undo custSel addSld delSld modSld">
      <pc:chgData name="Alessandro Ortis" userId="dcdc90ed-3509-45f7-ac48-ad038638580b" providerId="ADAL" clId="{247F500A-9082-4EFD-88B3-90E2E25A5384}" dt="2022-02-17T15:47:23.695" v="68" actId="5793"/>
      <pc:docMkLst>
        <pc:docMk/>
      </pc:docMkLst>
      <pc:sldChg chg="modSp mod">
        <pc:chgData name="Alessandro Ortis" userId="dcdc90ed-3509-45f7-ac48-ad038638580b" providerId="ADAL" clId="{247F500A-9082-4EFD-88B3-90E2E25A5384}" dt="2022-02-14T16:15:13.278" v="1" actId="14100"/>
        <pc:sldMkLst>
          <pc:docMk/>
          <pc:sldMk cId="0" sldId="256"/>
        </pc:sldMkLst>
        <pc:spChg chg="mod">
          <ac:chgData name="Alessandro Ortis" userId="dcdc90ed-3509-45f7-ac48-ad038638580b" providerId="ADAL" clId="{247F500A-9082-4EFD-88B3-90E2E25A5384}" dt="2022-02-14T16:15:13.278" v="1" actId="14100"/>
          <ac:spMkLst>
            <pc:docMk/>
            <pc:sldMk cId="0" sldId="256"/>
            <ac:spMk id="3080" creationId="{6FF1373D-FB8C-4158-987C-B864C0F430A3}"/>
          </ac:spMkLst>
        </pc:spChg>
      </pc:sldChg>
      <pc:sldChg chg="modSp mod">
        <pc:chgData name="Alessandro Ortis" userId="dcdc90ed-3509-45f7-ac48-ad038638580b" providerId="ADAL" clId="{247F500A-9082-4EFD-88B3-90E2E25A5384}" dt="2022-02-14T16:15:56.038" v="5" actId="14100"/>
        <pc:sldMkLst>
          <pc:docMk/>
          <pc:sldMk cId="0" sldId="279"/>
        </pc:sldMkLst>
        <pc:spChg chg="mod">
          <ac:chgData name="Alessandro Ortis" userId="dcdc90ed-3509-45f7-ac48-ad038638580b" providerId="ADAL" clId="{247F500A-9082-4EFD-88B3-90E2E25A5384}" dt="2022-02-14T16:15:56.038" v="5" actId="14100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247F500A-9082-4EFD-88B3-90E2E25A5384}" dt="2022-02-14T16:15:49.662" v="3" actId="1076"/>
          <ac:spMkLst>
            <pc:docMk/>
            <pc:sldMk cId="0" sldId="279"/>
            <ac:spMk id="50185" creationId="{24EB449D-83CB-4772-A221-925963DC140D}"/>
          </ac:spMkLst>
        </pc:spChg>
      </pc:sldChg>
      <pc:sldChg chg="modSp mod">
        <pc:chgData name="Alessandro Ortis" userId="dcdc90ed-3509-45f7-ac48-ad038638580b" providerId="ADAL" clId="{247F500A-9082-4EFD-88B3-90E2E25A5384}" dt="2022-02-14T16:18:03.837" v="10" actId="1076"/>
        <pc:sldMkLst>
          <pc:docMk/>
          <pc:sldMk cId="0" sldId="289"/>
        </pc:sldMkLst>
        <pc:picChg chg="mod">
          <ac:chgData name="Alessandro Ortis" userId="dcdc90ed-3509-45f7-ac48-ad038638580b" providerId="ADAL" clId="{247F500A-9082-4EFD-88B3-90E2E25A5384}" dt="2022-02-14T16:18:03.837" v="10" actId="1076"/>
          <ac:picMkLst>
            <pc:docMk/>
            <pc:sldMk cId="0" sldId="289"/>
            <ac:picMk id="77833" creationId="{D8E544BD-1D47-4DD5-A2EC-27D3EEC45B15}"/>
          </ac:picMkLst>
        </pc:picChg>
      </pc:sldChg>
      <pc:sldChg chg="modSp mod">
        <pc:chgData name="Alessandro Ortis" userId="dcdc90ed-3509-45f7-ac48-ad038638580b" providerId="ADAL" clId="{247F500A-9082-4EFD-88B3-90E2E25A5384}" dt="2022-02-14T16:16:32.084" v="6" actId="14100"/>
        <pc:sldMkLst>
          <pc:docMk/>
          <pc:sldMk cId="0" sldId="297"/>
        </pc:sldMkLst>
        <pc:picChg chg="mod">
          <ac:chgData name="Alessandro Ortis" userId="dcdc90ed-3509-45f7-ac48-ad038638580b" providerId="ADAL" clId="{247F500A-9082-4EFD-88B3-90E2E25A5384}" dt="2022-02-14T16:16:32.084" v="6" actId="14100"/>
          <ac:picMkLst>
            <pc:docMk/>
            <pc:sldMk cId="0" sldId="297"/>
            <ac:picMk id="94224" creationId="{013A97B5-A063-4D06-A983-023146A7CE34}"/>
          </ac:picMkLst>
        </pc:picChg>
      </pc:sldChg>
      <pc:sldChg chg="modSp mod">
        <pc:chgData name="Alessandro Ortis" userId="dcdc90ed-3509-45f7-ac48-ad038638580b" providerId="ADAL" clId="{247F500A-9082-4EFD-88B3-90E2E25A5384}" dt="2022-02-14T16:16:52.973" v="7" actId="313"/>
        <pc:sldMkLst>
          <pc:docMk/>
          <pc:sldMk cId="0" sldId="298"/>
        </pc:sldMkLst>
        <pc:spChg chg="mod">
          <ac:chgData name="Alessandro Ortis" userId="dcdc90ed-3509-45f7-ac48-ad038638580b" providerId="ADAL" clId="{247F500A-9082-4EFD-88B3-90E2E25A5384}" dt="2022-02-14T16:16:52.973" v="7" actId="313"/>
          <ac:spMkLst>
            <pc:docMk/>
            <pc:sldMk cId="0" sldId="298"/>
            <ac:spMk id="96267" creationId="{1A61FEFF-E153-4B29-9C3C-A1B811B7E1E5}"/>
          </ac:spMkLst>
        </pc:spChg>
      </pc:sldChg>
      <pc:sldChg chg="add del">
        <pc:chgData name="Alessandro Ortis" userId="dcdc90ed-3509-45f7-ac48-ad038638580b" providerId="ADAL" clId="{247F500A-9082-4EFD-88B3-90E2E25A5384}" dt="2022-02-14T16:50:08.547" v="12" actId="47"/>
        <pc:sldMkLst>
          <pc:docMk/>
          <pc:sldMk cId="462454456" sldId="320"/>
        </pc:sldMkLst>
      </pc:sldChg>
      <pc:sldChg chg="addSp delSp modSp add mod">
        <pc:chgData name="Alessandro Ortis" userId="dcdc90ed-3509-45f7-ac48-ad038638580b" providerId="ADAL" clId="{247F500A-9082-4EFD-88B3-90E2E25A5384}" dt="2022-02-17T15:47:23.695" v="68" actId="5793"/>
        <pc:sldMkLst>
          <pc:docMk/>
          <pc:sldMk cId="531386733" sldId="320"/>
        </pc:sldMkLst>
        <pc:spChg chg="mod">
          <ac:chgData name="Alessandro Ortis" userId="dcdc90ed-3509-45f7-ac48-ad038638580b" providerId="ADAL" clId="{247F500A-9082-4EFD-88B3-90E2E25A5384}" dt="2022-02-17T15:46:31.838" v="39" actId="20577"/>
          <ac:spMkLst>
            <pc:docMk/>
            <pc:sldMk cId="531386733" sldId="320"/>
            <ac:spMk id="98306" creationId="{686F158F-830F-4F07-8B7A-C0592E1C9D12}"/>
          </ac:spMkLst>
        </pc:spChg>
        <pc:spChg chg="add del mod">
          <ac:chgData name="Alessandro Ortis" userId="dcdc90ed-3509-45f7-ac48-ad038638580b" providerId="ADAL" clId="{247F500A-9082-4EFD-88B3-90E2E25A5384}" dt="2022-02-17T15:47:23.695" v="68" actId="5793"/>
          <ac:spMkLst>
            <pc:docMk/>
            <pc:sldMk cId="531386733" sldId="320"/>
            <ac:spMk id="98307" creationId="{DBCF2E26-DFFE-409B-8EF8-71EB14CAC0FD}"/>
          </ac:spMkLst>
        </pc:spChg>
        <pc:spChg chg="del">
          <ac:chgData name="Alessandro Ortis" userId="dcdc90ed-3509-45f7-ac48-ad038638580b" providerId="ADAL" clId="{247F500A-9082-4EFD-88B3-90E2E25A5384}" dt="2022-02-17T15:46:38.026" v="40" actId="478"/>
          <ac:spMkLst>
            <pc:docMk/>
            <pc:sldMk cId="531386733" sldId="320"/>
            <ac:spMk id="98316" creationId="{449F5A1C-CB7E-4A1A-B59B-DE2F072B85B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22/03/2023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1BCA2EFC-0C9C-467D-ADB9-6C1C611D944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5E004AB-D4C3-4562-9DF1-AF9A7F30CA10}" type="slidenum">
              <a:rPr lang="en-GB" altLang="en-US" sz="1200">
                <a:solidFill>
                  <a:srgbClr val="000000"/>
                </a:solidFill>
              </a:rPr>
              <a:pPr/>
              <a:t>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5601" name="Text Box 1">
            <a:extLst>
              <a:ext uri="{FF2B5EF4-FFF2-40B4-BE49-F238E27FC236}">
                <a16:creationId xmlns:a16="http://schemas.microsoft.com/office/drawing/2014/main" id="{38705BEA-181F-403E-AD70-F64190A04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29C8EEDC-89DD-4E5E-9481-7810CAE7CDA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A496550-CCCF-4B43-B511-E2F12B942C6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346E7DD-6CB2-40C1-ABA1-829E14DD7982}" type="slidenum">
              <a:rPr lang="en-GB" altLang="en-US" sz="1200">
                <a:solidFill>
                  <a:srgbClr val="000000"/>
                </a:solidFill>
              </a:rPr>
              <a:pPr/>
              <a:t>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51202" name="Text Box 2">
            <a:extLst>
              <a:ext uri="{FF2B5EF4-FFF2-40B4-BE49-F238E27FC236}">
                <a16:creationId xmlns:a16="http://schemas.microsoft.com/office/drawing/2014/main" id="{3910E6E6-622C-4F6F-B99A-1F525B32A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1A7A3C1A-8ABB-4419-B648-01A2CFB5D01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8A83E0F-3489-4CFD-80B4-A66ACCD37E5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82CF5BD-CA4D-48B8-8DEA-F5C958869974}" type="slidenum">
              <a:rPr lang="en-GB" altLang="en-US" sz="1200">
                <a:solidFill>
                  <a:srgbClr val="000000"/>
                </a:solidFill>
              </a:rPr>
              <a:pPr/>
              <a:t>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3186" name="Text Box 2">
            <a:extLst>
              <a:ext uri="{FF2B5EF4-FFF2-40B4-BE49-F238E27FC236}">
                <a16:creationId xmlns:a16="http://schemas.microsoft.com/office/drawing/2014/main" id="{E0624D09-5F97-49AB-9629-E9EE8749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3187" name="Text Box 3">
            <a:extLst>
              <a:ext uri="{FF2B5EF4-FFF2-40B4-BE49-F238E27FC236}">
                <a16:creationId xmlns:a16="http://schemas.microsoft.com/office/drawing/2014/main" id="{CFD137C6-1AAB-4443-83BC-85E08D10525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A0BB4C9-3B5A-448B-94BE-8F740E11E54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04FBD7E-34F6-4C6F-A2F5-6DA29C234EC8}" type="slidenum">
              <a:rPr lang="en-GB" altLang="en-US" sz="1200">
                <a:solidFill>
                  <a:srgbClr val="000000"/>
                </a:solidFill>
              </a:rPr>
              <a:pPr/>
              <a:t>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C420811B-4666-4E52-B231-6EABD5B14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5235" name="Text Box 3">
            <a:extLst>
              <a:ext uri="{FF2B5EF4-FFF2-40B4-BE49-F238E27FC236}">
                <a16:creationId xmlns:a16="http://schemas.microsoft.com/office/drawing/2014/main" id="{EF83CEF0-0D24-4E5F-9F10-4C83EE67512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A0BB4C9-3B5A-448B-94BE-8F740E11E54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04FBD7E-34F6-4C6F-A2F5-6DA29C234EC8}" type="slidenum">
              <a:rPr lang="en-GB" altLang="en-US" sz="1200">
                <a:solidFill>
                  <a:srgbClr val="000000"/>
                </a:solidFill>
              </a:rPr>
              <a:pPr/>
              <a:t>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C420811B-4666-4E52-B231-6EABD5B14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5235" name="Text Box 3">
            <a:extLst>
              <a:ext uri="{FF2B5EF4-FFF2-40B4-BE49-F238E27FC236}">
                <a16:creationId xmlns:a16="http://schemas.microsoft.com/office/drawing/2014/main" id="{EF83CEF0-0D24-4E5F-9F10-4C83EE67512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264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A0BB4C9-3B5A-448B-94BE-8F740E11E54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04FBD7E-34F6-4C6F-A2F5-6DA29C234EC8}" type="slidenum">
              <a:rPr lang="en-GB" altLang="en-US" sz="1200">
                <a:solidFill>
                  <a:srgbClr val="000000"/>
                </a:solidFill>
              </a:rPr>
              <a:pPr/>
              <a:t>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5234" name="Text Box 2">
            <a:extLst>
              <a:ext uri="{FF2B5EF4-FFF2-40B4-BE49-F238E27FC236}">
                <a16:creationId xmlns:a16="http://schemas.microsoft.com/office/drawing/2014/main" id="{C420811B-4666-4E52-B231-6EABD5B14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5235" name="Text Box 3">
            <a:extLst>
              <a:ext uri="{FF2B5EF4-FFF2-40B4-BE49-F238E27FC236}">
                <a16:creationId xmlns:a16="http://schemas.microsoft.com/office/drawing/2014/main" id="{EF83CEF0-0D24-4E5F-9F10-4C83EE67512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833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D78B6A25-C6FD-4F06-AA0D-4381F21D70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D81B0B7-536A-4145-A014-3B2206211B08}" type="slidenum">
              <a:rPr lang="en-GB" altLang="en-US" sz="1200">
                <a:solidFill>
                  <a:srgbClr val="000000"/>
                </a:solidFill>
              </a:rPr>
              <a:pPr/>
              <a:t>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9712A3FA-8AED-4F3B-A4EF-25649FA02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58615E52-B0D5-4748-B55F-76BF77B2BCF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D78B6A25-C6FD-4F06-AA0D-4381F21D70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D81B0B7-536A-4145-A014-3B2206211B08}" type="slidenum">
              <a:rPr lang="en-GB" altLang="en-US" sz="1200">
                <a:solidFill>
                  <a:srgbClr val="000000"/>
                </a:solidFill>
              </a:rPr>
              <a:pPr/>
              <a:t>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9712A3FA-8AED-4F3B-A4EF-25649FA02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58615E52-B0D5-4748-B55F-76BF77B2BCF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42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D78B6A25-C6FD-4F06-AA0D-4381F21D70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D81B0B7-536A-4145-A014-3B2206211B08}" type="slidenum">
              <a:rPr lang="en-GB" altLang="en-US" sz="1200">
                <a:solidFill>
                  <a:srgbClr val="000000"/>
                </a:solidFill>
              </a:rPr>
              <a:pPr/>
              <a:t>10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9712A3FA-8AED-4F3B-A4EF-25649FA02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58615E52-B0D5-4748-B55F-76BF77B2BCF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880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D78B6A25-C6FD-4F06-AA0D-4381F21D70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D81B0B7-536A-4145-A014-3B2206211B08}" type="slidenum">
              <a:rPr lang="en-GB" altLang="en-US" sz="1200">
                <a:solidFill>
                  <a:srgbClr val="000000"/>
                </a:solidFill>
              </a:rPr>
              <a:pPr/>
              <a:t>11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9712A3FA-8AED-4F3B-A4EF-25649FA02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58615E52-B0D5-4748-B55F-76BF77B2BCF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013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D78B6A25-C6FD-4F06-AA0D-4381F21D70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D81B0B7-536A-4145-A014-3B2206211B08}" type="slidenum">
              <a:rPr lang="en-GB" altLang="en-US" sz="1200">
                <a:solidFill>
                  <a:srgbClr val="000000"/>
                </a:solidFill>
              </a:rPr>
              <a:pPr/>
              <a:t>12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7282" name="Text Box 2">
            <a:extLst>
              <a:ext uri="{FF2B5EF4-FFF2-40B4-BE49-F238E27FC236}">
                <a16:creationId xmlns:a16="http://schemas.microsoft.com/office/drawing/2014/main" id="{9712A3FA-8AED-4F3B-A4EF-25649FA02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7283" name="Text Box 3">
            <a:extLst>
              <a:ext uri="{FF2B5EF4-FFF2-40B4-BE49-F238E27FC236}">
                <a16:creationId xmlns:a16="http://schemas.microsoft.com/office/drawing/2014/main" id="{58615E52-B0D5-4748-B55F-76BF77B2BCF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788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5B433885-00C3-4655-8F7B-3C1E94F0A0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753DC81-6750-4B8D-941D-93846ADD41AE}" type="slidenum">
              <a:rPr lang="en-GB" altLang="en-US" sz="1200">
                <a:solidFill>
                  <a:srgbClr val="000000"/>
                </a:solidFill>
              </a:rPr>
              <a:pPr/>
              <a:t>13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78850" name="Text Box 2">
            <a:extLst>
              <a:ext uri="{FF2B5EF4-FFF2-40B4-BE49-F238E27FC236}">
                <a16:creationId xmlns:a16="http://schemas.microsoft.com/office/drawing/2014/main" id="{47DE92D4-FBC6-4887-BB93-3EAFA7638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4225" cy="344646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78851" name="Text Box 3">
            <a:extLst>
              <a:ext uri="{FF2B5EF4-FFF2-40B4-BE49-F238E27FC236}">
                <a16:creationId xmlns:a16="http://schemas.microsoft.com/office/drawing/2014/main" id="{DFD2BECD-A857-46AB-A9B5-50A1A6FD26A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537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5B433885-00C3-4655-8F7B-3C1E94F0A0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753DC81-6750-4B8D-941D-93846ADD41AE}" type="slidenum">
              <a:rPr lang="en-GB" altLang="en-US" sz="1200">
                <a:solidFill>
                  <a:srgbClr val="000000"/>
                </a:solidFill>
              </a:rPr>
              <a:pPr/>
              <a:t>14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78850" name="Text Box 2">
            <a:extLst>
              <a:ext uri="{FF2B5EF4-FFF2-40B4-BE49-F238E27FC236}">
                <a16:creationId xmlns:a16="http://schemas.microsoft.com/office/drawing/2014/main" id="{47DE92D4-FBC6-4887-BB93-3EAFA7638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4225" cy="344646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78851" name="Text Box 3">
            <a:extLst>
              <a:ext uri="{FF2B5EF4-FFF2-40B4-BE49-F238E27FC236}">
                <a16:creationId xmlns:a16="http://schemas.microsoft.com/office/drawing/2014/main" id="{DFD2BECD-A857-46AB-A9B5-50A1A6FD26A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977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5B433885-00C3-4655-8F7B-3C1E94F0A0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753DC81-6750-4B8D-941D-93846ADD41AE}" type="slidenum">
              <a:rPr lang="en-GB" altLang="en-US" sz="1200">
                <a:solidFill>
                  <a:srgbClr val="000000"/>
                </a:solidFill>
              </a:rPr>
              <a:pPr/>
              <a:t>15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78850" name="Text Box 2">
            <a:extLst>
              <a:ext uri="{FF2B5EF4-FFF2-40B4-BE49-F238E27FC236}">
                <a16:creationId xmlns:a16="http://schemas.microsoft.com/office/drawing/2014/main" id="{47DE92D4-FBC6-4887-BB93-3EAFA7638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4225" cy="344646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78851" name="Text Box 3">
            <a:extLst>
              <a:ext uri="{FF2B5EF4-FFF2-40B4-BE49-F238E27FC236}">
                <a16:creationId xmlns:a16="http://schemas.microsoft.com/office/drawing/2014/main" id="{DFD2BECD-A857-46AB-A9B5-50A1A6FD26A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0EA3BAD4-E447-46DA-891B-E7673241B36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0696977-E99F-466C-BE5E-3B96FEB662A0}" type="slidenum">
              <a:rPr lang="en-GB" altLang="en-US" sz="1200">
                <a:solidFill>
                  <a:srgbClr val="000000"/>
                </a:solidFill>
              </a:rPr>
              <a:pPr/>
              <a:t>16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78850" name="Text Box 2">
            <a:extLst>
              <a:ext uri="{FF2B5EF4-FFF2-40B4-BE49-F238E27FC236}">
                <a16:creationId xmlns:a16="http://schemas.microsoft.com/office/drawing/2014/main" id="{073AD038-4E8D-4F4F-8FDD-62CA362D3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4225" cy="344646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78851" name="Text Box 3">
            <a:extLst>
              <a:ext uri="{FF2B5EF4-FFF2-40B4-BE49-F238E27FC236}">
                <a16:creationId xmlns:a16="http://schemas.microsoft.com/office/drawing/2014/main" id="{68E4B760-FA8C-455C-AC49-BB68CD705C1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80435BE6-864B-480B-8750-992036F2121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122F424-B5F5-4FB5-BB86-EB73E86ABEE8}" type="slidenum">
              <a:rPr lang="en-GB" altLang="en-US" sz="1200">
                <a:solidFill>
                  <a:srgbClr val="000000"/>
                </a:solidFill>
              </a:rPr>
              <a:pPr/>
              <a:t>17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83E64AF2-6C9E-4FFD-9849-BA659AEB2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40584B-3D61-4922-B287-0AB28F5BD3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18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A54E6A63-B8E7-4B01-B263-0E27A4706D0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8A56C53-C38B-414A-B0B5-B27FB40E4E02}" type="slidenum">
              <a:rPr lang="en-GB" altLang="en-US" sz="1200">
                <a:solidFill>
                  <a:srgbClr val="000000"/>
                </a:solidFill>
              </a:rPr>
              <a:pPr/>
              <a:t>19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178DC738-385F-48C0-9A58-B8DD86908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D1A9EF3A-0728-4261-B14B-46DC926C88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BFD17D38-B81B-415F-B169-C87499DB7B0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BA21A1B-0B1C-4B39-B97A-451206DD39A0}" type="slidenum">
              <a:rPr lang="en-GB" altLang="en-US" sz="1200">
                <a:solidFill>
                  <a:srgbClr val="000000"/>
                </a:solidFill>
              </a:rPr>
              <a:pPr/>
              <a:t>20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36B4BD43-C510-437F-B388-3B9BBEA64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098A2370-FE5D-41BF-9453-490C55D5504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784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944ECB7B-57E7-4521-B8B7-B4D6CC65B6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80C3CDB-3D15-49F4-A3C9-3CE6AF1057AD}" type="slidenum">
              <a:rPr lang="en-GB" altLang="en-US" sz="1200">
                <a:solidFill>
                  <a:srgbClr val="000000"/>
                </a:solidFill>
              </a:rPr>
              <a:pPr/>
              <a:t>23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>
            <a:extLst>
              <a:ext uri="{FF2B5EF4-FFF2-40B4-BE49-F238E27FC236}">
                <a16:creationId xmlns:a16="http://schemas.microsoft.com/office/drawing/2014/main" id="{73339DAB-C3A0-41EE-B0DD-184D88A7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4FAB47BC-077F-47CA-8D13-01412D937C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309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22/03/2023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22/03/2023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22/03/2023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22/03/2023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1288" cy="1131888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03650" cy="41036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1850" y="1981200"/>
            <a:ext cx="3805238" cy="41036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1753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22/03/2023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Gli</a:t>
            </a:r>
            <a:r>
              <a:rPr lang="en-US" sz="3600" dirty="0"/>
              <a:t> Array in C++</a:t>
            </a:r>
            <a:br>
              <a:rPr lang="it-IT" sz="1800"/>
            </a:br>
            <a:r>
              <a:rPr lang="it-IT" sz="1800"/>
              <a:t>Massimo Orazio Spata</a:t>
            </a:r>
            <a:br>
              <a:rPr lang="it-IT" sz="1800"/>
            </a:br>
            <a:br>
              <a:rPr lang="it-IT" sz="1800"/>
            </a:br>
            <a:br>
              <a:rPr lang="it-IT" sz="1800"/>
            </a:br>
            <a:r>
              <a:rPr lang="it-IT" sz="1800"/>
              <a:t>massimo.spata@unict.it</a:t>
            </a:r>
            <a:br>
              <a:rPr lang="it-IT" sz="1800"/>
            </a:br>
            <a:r>
              <a:rPr lang="it-IT" sz="1800"/>
              <a:t>www.dmi.unict.it/spata/</a:t>
            </a:r>
            <a:endParaRPr lang="it-IT" sz="2800" dirty="0"/>
          </a:p>
        </p:txBody>
      </p:sp>
      <p:pic>
        <p:nvPicPr>
          <p:cNvPr id="1026" name="Picture 2" descr="C:\Users\Alessandro\Desktop\CD FRANCESCO\ipla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0138" y="5073379"/>
            <a:ext cx="1990334" cy="1451965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D8E02409-99EA-4A61-B135-7A6427B12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0813" cy="1052513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Gli Array</a:t>
            </a:r>
            <a:endParaRPr lang="it-IT" sz="4000" i="1" dirty="0">
              <a:latin typeface="Bitstream Charter" charset="0"/>
              <a:ea typeface="+mj-ea"/>
              <a:cs typeface="+mj-cs"/>
            </a:endParaRP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6FF1373D-FB8C-4158-987C-B864C0F43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" y="981075"/>
            <a:ext cx="846112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</a:rPr>
              <a:t>un </a:t>
            </a:r>
            <a:r>
              <a:rPr lang="it-IT" altLang="en-US" sz="2200" i="1" dirty="0">
                <a:solidFill>
                  <a:schemeClr val="tx1"/>
                </a:solidFill>
              </a:rPr>
              <a:t>array</a:t>
            </a:r>
            <a:r>
              <a:rPr lang="it-IT" altLang="en-US" sz="2200" dirty="0">
                <a:solidFill>
                  <a:schemeClr val="tx1"/>
                </a:solidFill>
              </a:rPr>
              <a:t> (o </a:t>
            </a:r>
            <a:r>
              <a:rPr lang="it-IT" altLang="en-US" sz="2200" i="1" dirty="0">
                <a:solidFill>
                  <a:schemeClr val="tx1"/>
                </a:solidFill>
              </a:rPr>
              <a:t>vettore</a:t>
            </a:r>
            <a:r>
              <a:rPr lang="it-IT" altLang="en-US" sz="2200" dirty="0">
                <a:solidFill>
                  <a:schemeClr val="tx1"/>
                </a:solidFill>
              </a:rPr>
              <a:t>) è una sequenza di locazioni di memoria riservata ad una serie di dati dello stesso tipo. </a:t>
            </a:r>
            <a:endParaRPr lang="en-US" altLang="en-US" sz="2200" dirty="0">
              <a:solidFill>
                <a:schemeClr val="tx1"/>
              </a:solidFill>
            </a:endParaRPr>
          </a:p>
          <a:p>
            <a:pPr algn="just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</a:rPr>
              <a:t>gli oggetti si chiamano </a:t>
            </a:r>
            <a:r>
              <a:rPr lang="it-IT" altLang="en-US" sz="2200" i="1" dirty="0">
                <a:solidFill>
                  <a:schemeClr val="tx1"/>
                </a:solidFill>
              </a:rPr>
              <a:t>elementi</a:t>
            </a:r>
            <a:r>
              <a:rPr lang="it-IT" altLang="en-US" sz="2200" dirty="0">
                <a:solidFill>
                  <a:schemeClr val="tx1"/>
                </a:solidFill>
              </a:rPr>
              <a:t> dell'array e si numerano consecutivamente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0</a:t>
            </a:r>
            <a:r>
              <a:rPr lang="it-IT" altLang="en-US" sz="2200" dirty="0">
                <a:solidFill>
                  <a:schemeClr val="tx1"/>
                </a:solidFill>
              </a:rPr>
              <a:t>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1</a:t>
            </a:r>
            <a:r>
              <a:rPr lang="it-IT" altLang="en-US" sz="2200" dirty="0">
                <a:solidFill>
                  <a:schemeClr val="tx1"/>
                </a:solidFill>
              </a:rPr>
              <a:t>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2</a:t>
            </a:r>
            <a:r>
              <a:rPr lang="it-IT" altLang="en-US" sz="2200" dirty="0">
                <a:solidFill>
                  <a:schemeClr val="tx1"/>
                </a:solidFill>
              </a:rPr>
              <a:t>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3</a:t>
            </a:r>
            <a:r>
              <a:rPr lang="it-IT" altLang="en-US" sz="2200" dirty="0">
                <a:solidFill>
                  <a:schemeClr val="tx1"/>
                </a:solidFill>
              </a:rPr>
              <a:t>.. ; questi numeri si dicono </a:t>
            </a:r>
            <a:r>
              <a:rPr lang="it-IT" altLang="en-US" sz="2200" i="1" dirty="0">
                <a:solidFill>
                  <a:schemeClr val="tx1"/>
                </a:solidFill>
              </a:rPr>
              <a:t>indici </a:t>
            </a:r>
            <a:r>
              <a:rPr lang="it-IT" altLang="en-US" sz="2200" dirty="0">
                <a:solidFill>
                  <a:schemeClr val="tx1"/>
                </a:solidFill>
              </a:rPr>
              <a:t>dell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array, ed il loro ruolo è quello di localizzare la posizione di ogni elemento dentro 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array, fornendo </a:t>
            </a:r>
            <a:r>
              <a:rPr lang="it-IT" altLang="en-US" sz="2200" i="1" dirty="0">
                <a:solidFill>
                  <a:schemeClr val="tx1"/>
                </a:solidFill>
              </a:rPr>
              <a:t>acceso diretto</a:t>
            </a:r>
            <a:r>
              <a:rPr lang="it-IT" altLang="en-US" sz="2200" dirty="0">
                <a:solidFill>
                  <a:schemeClr val="tx1"/>
                </a:solidFill>
              </a:rPr>
              <a:t> ad esso. </a:t>
            </a:r>
            <a:endParaRPr lang="en-US" altLang="en-US" sz="2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just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</a:rPr>
              <a:t>il tipo di elementi immagazzinati nell'</a:t>
            </a:r>
            <a:r>
              <a:rPr lang="it-IT" altLang="en-US" sz="2200" i="1" dirty="0">
                <a:solidFill>
                  <a:schemeClr val="tx1"/>
                </a:solidFill>
              </a:rPr>
              <a:t>array</a:t>
            </a:r>
            <a:r>
              <a:rPr lang="it-IT" altLang="en-US" sz="2200" dirty="0">
                <a:solidFill>
                  <a:schemeClr val="tx1"/>
                </a:solidFill>
              </a:rPr>
              <a:t> può essere qualsiasi tipo di dato predefinito del C++, ma anche tipi di dato definiti dall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utente.  </a:t>
            </a:r>
          </a:p>
          <a:p>
            <a:pPr algn="just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</a:rPr>
              <a:t>se il nome del vettore è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a</a:t>
            </a:r>
            <a:r>
              <a:rPr lang="it-IT" altLang="en-US" sz="2200" dirty="0">
                <a:solidFill>
                  <a:schemeClr val="tx1"/>
                </a:solidFill>
              </a:rPr>
              <a:t>, allora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a[0]</a:t>
            </a:r>
            <a:r>
              <a:rPr lang="it-IT" altLang="en-US" sz="2200" dirty="0">
                <a:solidFill>
                  <a:schemeClr val="tx1"/>
                </a:solidFill>
              </a:rPr>
              <a:t> è il nome del primo elemento,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a[1]</a:t>
            </a:r>
            <a:r>
              <a:rPr lang="it-IT" altLang="en-US" sz="2200" dirty="0">
                <a:solidFill>
                  <a:schemeClr val="tx1"/>
                </a:solidFill>
              </a:rPr>
              <a:t> è il nome del secondo elemento, </a:t>
            </a:r>
            <a:r>
              <a:rPr lang="it-IT" altLang="en-US" sz="2200" dirty="0" err="1">
                <a:solidFill>
                  <a:schemeClr val="tx1"/>
                </a:solidFill>
              </a:rPr>
              <a:t>ecc</a:t>
            </a:r>
            <a:r>
              <a:rPr lang="it-IT" altLang="en-US" sz="2200" dirty="0">
                <a:solidFill>
                  <a:schemeClr val="tx1"/>
                </a:solidFill>
              </a:rPr>
              <a:t>; 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elemento </a:t>
            </a:r>
            <a:r>
              <a:rPr lang="it-IT" altLang="en-US" sz="2200" i="1" dirty="0">
                <a:solidFill>
                  <a:schemeClr val="tx1"/>
                </a:solidFill>
              </a:rPr>
              <a:t>i-esimo</a:t>
            </a:r>
            <a:r>
              <a:rPr lang="it-IT" altLang="en-US" sz="2200" dirty="0">
                <a:solidFill>
                  <a:schemeClr val="tx1"/>
                </a:solidFill>
              </a:rPr>
              <a:t> si trova quindi nella posizione </a:t>
            </a:r>
            <a:r>
              <a:rPr lang="it-IT" altLang="en-US" sz="2200" i="1" dirty="0">
                <a:solidFill>
                  <a:schemeClr val="tx1"/>
                </a:solidFill>
              </a:rPr>
              <a:t>i-1</a:t>
            </a:r>
            <a:r>
              <a:rPr lang="it-IT" altLang="en-US" sz="2200" dirty="0">
                <a:solidFill>
                  <a:schemeClr val="tx1"/>
                </a:solidFill>
              </a:rPr>
              <a:t>, e se 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array ha </a:t>
            </a:r>
            <a:r>
              <a:rPr lang="it-IT" altLang="en-US" sz="2200" i="1" dirty="0">
                <a:solidFill>
                  <a:schemeClr val="tx1"/>
                </a:solidFill>
              </a:rPr>
              <a:t>n</a:t>
            </a:r>
            <a:r>
              <a:rPr lang="it-IT" altLang="en-US" sz="2200" dirty="0">
                <a:solidFill>
                  <a:schemeClr val="tx1"/>
                </a:solidFill>
              </a:rPr>
              <a:t> elementi, i loro nomi sono</a:t>
            </a:r>
            <a:br>
              <a:rPr lang="it-IT" altLang="en-US" sz="2200" dirty="0">
                <a:solidFill>
                  <a:schemeClr val="tx1"/>
                </a:solidFill>
              </a:rPr>
            </a:b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a[0]</a:t>
            </a:r>
            <a:r>
              <a:rPr lang="it-IT" altLang="en-US" sz="2200" dirty="0">
                <a:solidFill>
                  <a:schemeClr val="tx1"/>
                </a:solidFill>
              </a:rPr>
              <a:t>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a[1]</a:t>
            </a:r>
            <a:r>
              <a:rPr lang="it-IT" altLang="en-US" sz="2200" dirty="0">
                <a:solidFill>
                  <a:schemeClr val="tx1"/>
                </a:solidFill>
              </a:rPr>
              <a:t>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... </a:t>
            </a:r>
            <a:r>
              <a:rPr lang="it-IT" altLang="en-US" sz="2200" dirty="0">
                <a:solidFill>
                  <a:schemeClr val="tx1"/>
                </a:solidFill>
              </a:rPr>
              <a:t>,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a[n-1]</a:t>
            </a:r>
            <a:r>
              <a:rPr lang="it-IT" altLang="en-US" sz="2200" dirty="0">
                <a:solidFill>
                  <a:schemeClr val="tx1"/>
                </a:solidFill>
              </a:rPr>
              <a:t>   </a:t>
            </a:r>
            <a:endParaRPr lang="en-US" altLang="en-US" sz="2200" dirty="0">
              <a:solidFill>
                <a:schemeClr val="tx1"/>
              </a:solidFill>
            </a:endParaRPr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5686F35E-B082-481C-9199-EDC6C0E3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631" y="5589240"/>
            <a:ext cx="43767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3A1D38E7-760B-4353-889B-1CB871DC7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69850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Definizione di array</a:t>
            </a:r>
            <a:endParaRPr lang="it-IT" sz="4000" b="0" dirty="0">
              <a:latin typeface="Courier New" charset="0"/>
              <a:ea typeface="+mj-ea"/>
              <a:cs typeface="+mj-cs"/>
            </a:endParaRP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866CFACF-C40A-49AB-83E0-274375287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037644"/>
            <a:ext cx="8527911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un array si definisce specificando il tipo dei suoi elementi e, tra parentesi quadre, la sua dimensione (o 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lunghezza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): </a:t>
            </a:r>
          </a:p>
        </p:txBody>
      </p:sp>
      <p:sp>
        <p:nvSpPr>
          <p:cNvPr id="50182" name="Text Box 6">
            <a:extLst>
              <a:ext uri="{FF2B5EF4-FFF2-40B4-BE49-F238E27FC236}">
                <a16:creationId xmlns:a16="http://schemas.microsoft.com/office/drawing/2014/main" id="{A576F264-8527-4742-BBA7-C96A26986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989138"/>
            <a:ext cx="8569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buFont typeface="Times New Roman" charset="0"/>
              <a:buNone/>
              <a:defRPr/>
            </a:pPr>
            <a:r>
              <a:rPr lang="it-IT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tipo_elementi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nome_array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</a:t>
            </a:r>
            <a:r>
              <a:rPr lang="it-IT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numero_elementi</a:t>
            </a:r>
            <a:r>
              <a:rPr lang="it-IT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</a:p>
        </p:txBody>
      </p:sp>
      <p:sp>
        <p:nvSpPr>
          <p:cNvPr id="50184" name="Rectangle 8">
            <a:extLst>
              <a:ext uri="{FF2B5EF4-FFF2-40B4-BE49-F238E27FC236}">
                <a16:creationId xmlns:a16="http://schemas.microsoft.com/office/drawing/2014/main" id="{7BA5F3D2-2299-4EB8-9F8A-755784065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573463"/>
            <a:ext cx="863600" cy="360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50185" name="Text Box 9">
            <a:extLst>
              <a:ext uri="{FF2B5EF4-FFF2-40B4-BE49-F238E27FC236}">
                <a16:creationId xmlns:a16="http://schemas.microsoft.com/office/drawing/2014/main" id="{24EB449D-83CB-4772-A221-925963DC1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74" y="2771413"/>
            <a:ext cx="861695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 sz="2200" dirty="0">
                <a:solidFill>
                  <a:schemeClr val="tx1"/>
                </a:solidFill>
              </a:rPr>
              <a:t>dove</a:t>
            </a:r>
            <a:r>
              <a:rPr lang="it-IT" altLang="en-US" sz="2200" i="1" dirty="0">
                <a:solidFill>
                  <a:schemeClr val="tx1"/>
                </a:solidFill>
              </a:rPr>
              <a:t> </a:t>
            </a:r>
            <a:r>
              <a:rPr lang="it-IT" altLang="en-US" sz="2200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numero_elementi</a:t>
            </a:r>
            <a:r>
              <a:rPr lang="it-IT" altLang="en-US" sz="2200" dirty="0">
                <a:solidFill>
                  <a:schemeClr val="tx1"/>
                </a:solidFill>
              </a:rPr>
              <a:t> deve essere un valore intero; ad esempio, per creare un array (lista) di dieci variabili intere, si scrive:</a:t>
            </a:r>
          </a:p>
          <a:p>
            <a:endParaRPr lang="it-IT" altLang="en-US" sz="2200" dirty="0">
              <a:solidFill>
                <a:schemeClr val="tx1"/>
              </a:solidFill>
            </a:endParaRPr>
          </a:p>
          <a:p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numeri[10]; //Crea un array di 10 elementi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</a:p>
        </p:txBody>
      </p:sp>
      <p:pic>
        <p:nvPicPr>
          <p:cNvPr id="50186" name="Picture 10">
            <a:extLst>
              <a:ext uri="{FF2B5EF4-FFF2-40B4-BE49-F238E27FC236}">
                <a16:creationId xmlns:a16="http://schemas.microsoft.com/office/drawing/2014/main" id="{12D72CB2-BF97-4F18-96C6-2711BF4DD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130" y="4293096"/>
            <a:ext cx="3668713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F66628D-9E5B-4DCD-B742-EE0A82320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76327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Accesso agli elementi di un array</a:t>
            </a:r>
            <a:endParaRPr lang="it-IT" sz="4000" b="0" dirty="0">
              <a:latin typeface="Courier New" charset="0"/>
              <a:ea typeface="+mj-ea"/>
              <a:cs typeface="+mj-cs"/>
            </a:endParaRPr>
          </a:p>
        </p:txBody>
      </p:sp>
      <p:sp>
        <p:nvSpPr>
          <p:cNvPr id="92163" name="Text Box 3">
            <a:extLst>
              <a:ext uri="{FF2B5EF4-FFF2-40B4-BE49-F238E27FC236}">
                <a16:creationId xmlns:a16="http://schemas.microsoft.com/office/drawing/2014/main" id="{3B5AD3D1-7065-425C-A2B5-7F114C08D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856932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si può accedere ad un elemento dell'array mediante il suo nome ed un 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indice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che ne rappresenta la posizione:</a:t>
            </a:r>
            <a:b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</a:br>
            <a:br>
              <a:rPr lang="it-IT" sz="1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</a:br>
            <a:r>
              <a:rPr lang="it-IT" sz="2200" i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nomeArray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[n]</a:t>
            </a:r>
            <a:endParaRPr lang="it-IT" dirty="0">
              <a:solidFill>
                <a:schemeClr val="tx1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780E6ADA-F337-4DB1-A220-98D3B3AAA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573463"/>
            <a:ext cx="863600" cy="360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92169" name="Text Box 9">
            <a:extLst>
              <a:ext uri="{FF2B5EF4-FFF2-40B4-BE49-F238E27FC236}">
                <a16:creationId xmlns:a16="http://schemas.microsoft.com/office/drawing/2014/main" id="{EF0088D3-1E19-4AA6-BD9C-D349621FF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492375"/>
            <a:ext cx="85693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>
                <a:solidFill>
                  <a:schemeClr val="tx1"/>
                </a:solidFill>
              </a:rPr>
              <a:t> C++ non verifica che gli indici dell</a:t>
            </a:r>
            <a:r>
              <a:rPr lang="it-IT" altLang="it-IT" sz="2200">
                <a:solidFill>
                  <a:schemeClr val="tx1"/>
                </a:solidFill>
              </a:rPr>
              <a:t>’</a:t>
            </a:r>
            <a:r>
              <a:rPr lang="it-IT" altLang="en-US" sz="2200">
                <a:solidFill>
                  <a:schemeClr val="tx1"/>
                </a:solidFill>
              </a:rPr>
              <a:t>array stiano dentro la dimensione definita; così, ad esempio, se si accede a </a:t>
            </a:r>
            <a:r>
              <a:rPr lang="it-IT" altLang="en-US" sz="2200">
                <a:solidFill>
                  <a:schemeClr val="tx1"/>
                </a:solidFill>
                <a:latin typeface="Courier New" panose="02070309020205020404" pitchFamily="49" charset="0"/>
              </a:rPr>
              <a:t>numeri[12]</a:t>
            </a:r>
            <a:r>
              <a:rPr lang="it-IT" altLang="en-US" sz="2200">
                <a:solidFill>
                  <a:schemeClr val="tx1"/>
                </a:solidFill>
              </a:rPr>
              <a:t> il compilatore non segnalerà alcun errore (</a:t>
            </a:r>
            <a:r>
              <a:rPr lang="it-IT" altLang="en-US" sz="2200" i="1">
                <a:solidFill>
                  <a:schemeClr val="tx1"/>
                </a:solidFill>
              </a:rPr>
              <a:t>buffer overflow</a:t>
            </a:r>
            <a:r>
              <a:rPr lang="it-IT" altLang="en-US" sz="22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2170" name="Text Box 10">
            <a:extLst>
              <a:ext uri="{FF2B5EF4-FFF2-40B4-BE49-F238E27FC236}">
                <a16:creationId xmlns:a16="http://schemas.microsoft.com/office/drawing/2014/main" id="{C267FF83-A3B2-40F2-8E7B-D188A6241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573463"/>
            <a:ext cx="8713787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[5];          // contiene 5 elementi: il primo, </a:t>
            </a:r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[0] e l</a:t>
            </a:r>
            <a:r>
              <a:rPr lang="it-IT" altLang="it-IT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’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ultimo, </a:t>
            </a:r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[4]</a:t>
            </a:r>
          </a:p>
          <a:p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pesi[25], lunghezze[100];	 // definisce 2 array di interi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float salari[25];	         // definisce un array di 25 elementi float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double temperature[50];	     // definisce un array di 50 elementi double</a:t>
            </a:r>
          </a:p>
          <a:p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char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lettere[15];	         // definisce un array di caratteri </a:t>
            </a:r>
          </a:p>
          <a:p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[4]                        // referenzia il quinto elemento del vettore </a:t>
            </a:r>
            <a:r>
              <a:rPr lang="it-IT" altLang="en-US" sz="1400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eta</a:t>
            </a:r>
            <a:endParaRPr lang="it-IT" altLang="en-US" sz="1400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vendite[totale + 5]       // accede all'elemento di indice pari al valore della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                            // variabile o costante totale aumentato di cinque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giorni[mese]     // accede all’elemento del vettore giorni dato dal valore della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                 // variabile o costante mese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salario[mese[i] * 5] // accede all'elemento del vettore salario il cui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         // indice è dato dal valore dell'i-esimo elemento del vettore mese</a:t>
            </a:r>
          </a:p>
          <a:p>
            <a:r>
              <a:rPr lang="it-IT" altLang="en-US" sz="1400" dirty="0">
                <a:solidFill>
                  <a:schemeClr val="accent2"/>
                </a:solidFill>
                <a:latin typeface="Courier New" panose="02070309020205020404" pitchFamily="49" charset="0"/>
              </a:rPr>
              <a:t>          //  moltiplicato per cinque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D3A4E65-E036-44C4-9FA4-C751B5756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7561263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 err="1">
                <a:latin typeface="Bitstream Charter" charset="0"/>
                <a:ea typeface="+mj-ea"/>
                <a:cs typeface="+mj-cs"/>
              </a:rPr>
              <a:t>Allocamento</a:t>
            </a:r>
            <a:r>
              <a:rPr lang="it-IT" sz="3600" dirty="0">
                <a:latin typeface="Bitstream Charter" charset="0"/>
                <a:ea typeface="+mj-ea"/>
                <a:cs typeface="+mj-cs"/>
              </a:rPr>
              <a:t> in memoria di un array</a:t>
            </a:r>
            <a:endParaRPr lang="it-IT" sz="36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4222" name="Text Box 14">
            <a:extLst>
              <a:ext uri="{FF2B5EF4-FFF2-40B4-BE49-F238E27FC236}">
                <a16:creationId xmlns:a16="http://schemas.microsoft.com/office/drawing/2014/main" id="{07445980-AF7A-4CB0-B330-80B3920E4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77057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>
                <a:solidFill>
                  <a:schemeClr val="tx1"/>
                </a:solidFill>
              </a:rPr>
              <a:t> </a:t>
            </a:r>
            <a:r>
              <a:rPr lang="it-IT" altLang="en-US"/>
              <a:t>Gli elementi degli arrays si immagazzinano in blocchi contigui. Così, ad esempio, gli arrays</a:t>
            </a:r>
          </a:p>
          <a:p>
            <a:r>
              <a:rPr lang="it-IT" altLang="en-US"/>
              <a:t>int eta[5];</a:t>
            </a:r>
          </a:p>
          <a:p>
            <a:r>
              <a:rPr lang="it-IT" altLang="en-US"/>
              <a:t>char codici[5];</a:t>
            </a:r>
          </a:p>
          <a:p>
            <a:r>
              <a:rPr lang="it-IT" altLang="en-US"/>
              <a:t>si rappresentano graficamente in memoria nella </a:t>
            </a:r>
          </a:p>
        </p:txBody>
      </p:sp>
      <p:sp>
        <p:nvSpPr>
          <p:cNvPr id="94223" name="Text Box 15">
            <a:extLst>
              <a:ext uri="{FF2B5EF4-FFF2-40B4-BE49-F238E27FC236}">
                <a16:creationId xmlns:a16="http://schemas.microsoft.com/office/drawing/2014/main" id="{A78BAF2F-ECEC-46DD-96A7-23C6469B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770572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Times New Roman" panose="02020603050405020304" pitchFamily="18" charset="0"/>
              <a:buBlip>
                <a:blip r:embed="rId3"/>
              </a:buBlip>
            </a:pPr>
            <a:r>
              <a:rPr lang="it-IT" altLang="en-US" dirty="0">
                <a:solidFill>
                  <a:schemeClr val="tx1"/>
                </a:solidFill>
              </a:rPr>
              <a:t> </a:t>
            </a:r>
            <a:r>
              <a:rPr lang="it-IT" altLang="en-US" sz="2200" dirty="0">
                <a:solidFill>
                  <a:schemeClr val="tx1"/>
                </a:solidFill>
              </a:rPr>
              <a:t>gli elementi degli array si immagazzinano in blocchi contigui; </a:t>
            </a:r>
            <a:br>
              <a:rPr lang="it-IT" altLang="en-US" sz="2200" dirty="0">
                <a:solidFill>
                  <a:schemeClr val="tx1"/>
                </a:solidFill>
              </a:rPr>
            </a:br>
            <a:endParaRPr lang="it-IT" altLang="en-US" sz="2200" dirty="0">
              <a:solidFill>
                <a:schemeClr val="tx1"/>
              </a:solidFill>
            </a:endParaRPr>
          </a:p>
          <a:p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[5];</a:t>
            </a:r>
          </a:p>
          <a:p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char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codici[5];</a:t>
            </a:r>
          </a:p>
          <a:p>
            <a:endParaRPr lang="it-IT" altLang="en-US" sz="2200" dirty="0">
              <a:solidFill>
                <a:schemeClr val="tx1"/>
              </a:solidFill>
            </a:endParaRPr>
          </a:p>
        </p:txBody>
      </p:sp>
      <p:pic>
        <p:nvPicPr>
          <p:cNvPr id="94224" name="Picture 16">
            <a:extLst>
              <a:ext uri="{FF2B5EF4-FFF2-40B4-BE49-F238E27FC236}">
                <a16:creationId xmlns:a16="http://schemas.microsoft.com/office/drawing/2014/main" id="{013A97B5-A063-4D06-A983-023146A7C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954" y="1628800"/>
            <a:ext cx="5163084" cy="191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4225" name="Text Box 17">
            <a:extLst>
              <a:ext uri="{FF2B5EF4-FFF2-40B4-BE49-F238E27FC236}">
                <a16:creationId xmlns:a16="http://schemas.microsoft.com/office/drawing/2014/main" id="{33C7807A-477F-4A0F-A179-3616B2970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540125"/>
            <a:ext cx="896461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Times New Roman" panose="02020603050405020304" pitchFamily="18" charset="0"/>
              <a:buBlip>
                <a:blip r:embed="rId3"/>
              </a:buBlip>
            </a:pPr>
            <a:r>
              <a:rPr lang="it-IT" altLang="en-US" sz="2200" dirty="0">
                <a:solidFill>
                  <a:schemeClr val="tx1"/>
                </a:solidFill>
              </a:rPr>
              <a:t> si può utilizzare l'operatore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200" dirty="0">
                <a:solidFill>
                  <a:schemeClr val="tx1"/>
                </a:solidFill>
              </a:rPr>
              <a:t> per conoscere il numero di bytes occupati dall'array; ad esempio, supponiamo che si definisca un array di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100</a:t>
            </a:r>
            <a:r>
              <a:rPr lang="it-IT" altLang="en-US" sz="2200" dirty="0">
                <a:solidFill>
                  <a:schemeClr val="tx1"/>
                </a:solidFill>
              </a:rPr>
              <a:t> numeri interi denominato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2200" dirty="0">
                <a:solidFill>
                  <a:schemeClr val="tx1"/>
                </a:solidFill>
              </a:rPr>
              <a:t>: </a:t>
            </a:r>
          </a:p>
          <a:p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n =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); </a:t>
            </a:r>
            <a:endParaRPr lang="it-IT" altLang="en-US" sz="2200" dirty="0">
              <a:solidFill>
                <a:schemeClr val="tx1"/>
              </a:solidFill>
            </a:endParaRPr>
          </a:p>
          <a:p>
            <a:r>
              <a:rPr lang="it-IT" altLang="en-US" sz="2200" dirty="0">
                <a:solidFill>
                  <a:schemeClr val="tx1"/>
                </a:solidFill>
              </a:rPr>
              <a:t>assegna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400</a:t>
            </a:r>
            <a:r>
              <a:rPr lang="it-IT" altLang="en-US" sz="2200" dirty="0">
                <a:solidFill>
                  <a:schemeClr val="tx1"/>
                </a:solidFill>
              </a:rPr>
              <a:t> ad 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n</a:t>
            </a:r>
            <a:r>
              <a:rPr lang="it-IT" altLang="en-US" sz="2200" dirty="0">
                <a:solidFill>
                  <a:schemeClr val="tx1"/>
                </a:solidFill>
              </a:rPr>
              <a:t>; se si vuole conoscere la dimensione di un elemento individuale  dell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array si può scrivere:</a:t>
            </a:r>
          </a:p>
          <a:p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n =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eta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[0]); </a:t>
            </a:r>
          </a:p>
          <a:p>
            <a:r>
              <a:rPr lang="it-IT" altLang="en-US" sz="2200" dirty="0">
                <a:solidFill>
                  <a:schemeClr val="tx1"/>
                </a:solidFill>
              </a:rPr>
              <a:t>si può utilizzare l'operatore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200" dirty="0">
                <a:solidFill>
                  <a:schemeClr val="tx1"/>
                </a:solidFill>
              </a:rPr>
              <a:t> anche per conoscere il numero di bytes occupati da un tipo di dato:	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n = 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); </a:t>
            </a:r>
          </a:p>
          <a:p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D3A4E65-E036-44C4-9FA4-C751B5756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7561263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latin typeface="Bitstream Charter" charset="0"/>
                <a:ea typeface="+mj-ea"/>
                <a:cs typeface="+mj-cs"/>
              </a:rPr>
              <a:t>Verifica dell’indice di un array</a:t>
            </a:r>
            <a:endParaRPr lang="it-IT" sz="36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4222" name="Text Box 14">
            <a:extLst>
              <a:ext uri="{FF2B5EF4-FFF2-40B4-BE49-F238E27FC236}">
                <a16:creationId xmlns:a16="http://schemas.microsoft.com/office/drawing/2014/main" id="{07445980-AF7A-4CB0-B330-80B3920E4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77057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>
                <a:solidFill>
                  <a:schemeClr val="tx1"/>
                </a:solidFill>
              </a:rPr>
              <a:t> </a:t>
            </a:r>
            <a:r>
              <a:rPr lang="it-IT" altLang="en-US"/>
              <a:t>Gli elementi degli arrays si immagazzinano in blocchi contigui. Così, ad esempio, gli arrays</a:t>
            </a:r>
          </a:p>
          <a:p>
            <a:r>
              <a:rPr lang="it-IT" altLang="en-US"/>
              <a:t>int eta[5];</a:t>
            </a:r>
          </a:p>
          <a:p>
            <a:r>
              <a:rPr lang="it-IT" altLang="en-US"/>
              <a:t>char codici[5];</a:t>
            </a:r>
          </a:p>
          <a:p>
            <a:r>
              <a:rPr lang="it-IT" altLang="en-US"/>
              <a:t>si rappresentano graficamente in memoria nella </a:t>
            </a:r>
          </a:p>
        </p:txBody>
      </p:sp>
      <p:sp>
        <p:nvSpPr>
          <p:cNvPr id="94223" name="Text Box 15">
            <a:extLst>
              <a:ext uri="{FF2B5EF4-FFF2-40B4-BE49-F238E27FC236}">
                <a16:creationId xmlns:a16="http://schemas.microsoft.com/office/drawing/2014/main" id="{A78BAF2F-ECEC-46DD-96A7-23C6469B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6651"/>
            <a:ext cx="4105151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dirty="0">
                <a:solidFill>
                  <a:schemeClr val="tx1"/>
                </a:solidFill>
              </a:rPr>
              <a:t>Come possiamo proteggere un codice (es. una funzione) da errori di buffer overflow?</a:t>
            </a:r>
            <a:br>
              <a:rPr lang="it-IT" altLang="en-US" sz="2200" dirty="0">
                <a:solidFill>
                  <a:schemeClr val="tx1"/>
                </a:solidFill>
              </a:rPr>
            </a:b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lang="it-IT" altLang="en-US" sz="2200" dirty="0">
              <a:solidFill>
                <a:schemeClr val="tx1"/>
              </a:solidFill>
            </a:endParaRPr>
          </a:p>
        </p:txBody>
      </p:sp>
      <p:pic>
        <p:nvPicPr>
          <p:cNvPr id="94224" name="Picture 16">
            <a:extLst>
              <a:ext uri="{FF2B5EF4-FFF2-40B4-BE49-F238E27FC236}">
                <a16:creationId xmlns:a16="http://schemas.microsoft.com/office/drawing/2014/main" id="{013A97B5-A063-4D06-A983-023146A7C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456" y="1176350"/>
            <a:ext cx="5163084" cy="191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05450BD-11FD-4A9D-BDCD-1657FB7E3EE1}"/>
              </a:ext>
            </a:extLst>
          </p:cNvPr>
          <p:cNvSpPr txBox="1"/>
          <p:nvPr/>
        </p:nvSpPr>
        <p:spPr>
          <a:xfrm>
            <a:off x="395536" y="3375351"/>
            <a:ext cx="799288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double somma(double a[],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 n){</a:t>
            </a:r>
          </a:p>
          <a:p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	double s = 0.0;</a:t>
            </a:r>
          </a:p>
          <a:p>
            <a:r>
              <a:rPr lang="it-IT" altLang="en-US" sz="2000" dirty="0">
                <a:latin typeface="Courier New" panose="02070309020205020404" pitchFamily="49" charset="0"/>
              </a:rPr>
              <a:t>	for (</a:t>
            </a:r>
            <a:r>
              <a:rPr lang="it-IT" altLang="en-US" sz="2000" dirty="0" err="1">
                <a:latin typeface="Courier New" panose="02070309020205020404" pitchFamily="49" charset="0"/>
              </a:rPr>
              <a:t>int</a:t>
            </a:r>
            <a:r>
              <a:rPr lang="it-IT" altLang="en-US" sz="2000" dirty="0">
                <a:latin typeface="Courier New" panose="02070309020205020404" pitchFamily="49" charset="0"/>
              </a:rPr>
              <a:t> i=0;i&lt;</a:t>
            </a:r>
            <a:r>
              <a:rPr lang="it-IT" altLang="en-US" sz="2000" dirty="0" err="1">
                <a:latin typeface="Courier New" panose="02070309020205020404" pitchFamily="49" charset="0"/>
              </a:rPr>
              <a:t>n;i</a:t>
            </a:r>
            <a:r>
              <a:rPr lang="it-IT" altLang="en-US" sz="2000" dirty="0">
                <a:latin typeface="Courier New" panose="02070309020205020404" pitchFamily="49" charset="0"/>
              </a:rPr>
              <a:t>++) </a:t>
            </a:r>
          </a:p>
          <a:p>
            <a:r>
              <a:rPr lang="it-IT" altLang="en-US" sz="2000" dirty="0">
                <a:latin typeface="Courier New" panose="02070309020205020404" pitchFamily="49" charset="0"/>
              </a:rPr>
              <a:t>		s+=a[i];</a:t>
            </a:r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retunr</a:t>
            </a:r>
            <a:r>
              <a:rPr lang="it-IT" altLang="en-US" sz="2000" dirty="0" err="1">
                <a:latin typeface="Courier New" panose="02070309020205020404" pitchFamily="49" charset="0"/>
              </a:rPr>
              <a:t>n</a:t>
            </a:r>
            <a:r>
              <a:rPr lang="it-IT" altLang="en-US" sz="2000" dirty="0">
                <a:latin typeface="Courier New" panose="02070309020205020404" pitchFamily="49" charset="0"/>
              </a:rPr>
              <a:t> s;</a:t>
            </a:r>
          </a:p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7155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D3A4E65-E036-44C4-9FA4-C751B5756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7561263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latin typeface="Bitstream Charter" charset="0"/>
                <a:ea typeface="+mj-ea"/>
                <a:cs typeface="+mj-cs"/>
              </a:rPr>
              <a:t>Verifica dell’indice di un array</a:t>
            </a:r>
            <a:endParaRPr lang="it-IT" sz="36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4222" name="Text Box 14">
            <a:extLst>
              <a:ext uri="{FF2B5EF4-FFF2-40B4-BE49-F238E27FC236}">
                <a16:creationId xmlns:a16="http://schemas.microsoft.com/office/drawing/2014/main" id="{07445980-AF7A-4CB0-B330-80B3920E4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77057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>
                <a:solidFill>
                  <a:schemeClr val="tx1"/>
                </a:solidFill>
              </a:rPr>
              <a:t> </a:t>
            </a:r>
            <a:r>
              <a:rPr lang="it-IT" altLang="en-US"/>
              <a:t>Gli elementi degli arrays si immagazzinano in blocchi contigui. Così, ad esempio, gli arrays</a:t>
            </a:r>
          </a:p>
          <a:p>
            <a:r>
              <a:rPr lang="it-IT" altLang="en-US"/>
              <a:t>int eta[5];</a:t>
            </a:r>
          </a:p>
          <a:p>
            <a:r>
              <a:rPr lang="it-IT" altLang="en-US"/>
              <a:t>char codici[5];</a:t>
            </a:r>
          </a:p>
          <a:p>
            <a:r>
              <a:rPr lang="it-IT" altLang="en-US"/>
              <a:t>si rappresentano graficamente in memoria nella </a:t>
            </a:r>
          </a:p>
        </p:txBody>
      </p:sp>
      <p:sp>
        <p:nvSpPr>
          <p:cNvPr id="94223" name="Text Box 15">
            <a:extLst>
              <a:ext uri="{FF2B5EF4-FFF2-40B4-BE49-F238E27FC236}">
                <a16:creationId xmlns:a16="http://schemas.microsoft.com/office/drawing/2014/main" id="{A78BAF2F-ECEC-46DD-96A7-23C6469B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6651"/>
            <a:ext cx="4105151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dirty="0">
                <a:solidFill>
                  <a:schemeClr val="tx1"/>
                </a:solidFill>
              </a:rPr>
              <a:t>Come possiamo proteggere un codice (es. una funzione) da errori di buffer overflow?</a:t>
            </a:r>
            <a:br>
              <a:rPr lang="it-IT" altLang="en-US" sz="2200" dirty="0">
                <a:solidFill>
                  <a:schemeClr val="tx1"/>
                </a:solidFill>
              </a:rPr>
            </a:b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lang="it-IT" altLang="en-US" sz="2200" dirty="0">
              <a:solidFill>
                <a:schemeClr val="tx1"/>
              </a:solidFill>
            </a:endParaRPr>
          </a:p>
        </p:txBody>
      </p:sp>
      <p:pic>
        <p:nvPicPr>
          <p:cNvPr id="94224" name="Picture 16">
            <a:extLst>
              <a:ext uri="{FF2B5EF4-FFF2-40B4-BE49-F238E27FC236}">
                <a16:creationId xmlns:a16="http://schemas.microsoft.com/office/drawing/2014/main" id="{013A97B5-A063-4D06-A983-023146A7C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456" y="1176350"/>
            <a:ext cx="5163084" cy="191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05450BD-11FD-4A9D-BDCD-1657FB7E3EE1}"/>
              </a:ext>
            </a:extLst>
          </p:cNvPr>
          <p:cNvSpPr txBox="1"/>
          <p:nvPr/>
        </p:nvSpPr>
        <p:spPr>
          <a:xfrm>
            <a:off x="395536" y="3375351"/>
            <a:ext cx="799288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double somma(double a[], 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 n){</a:t>
            </a:r>
          </a:p>
          <a:p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it-IT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	</a:t>
            </a:r>
            <a:r>
              <a:rPr lang="it-IT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if</a:t>
            </a:r>
            <a:r>
              <a:rPr lang="it-IT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(n* </a:t>
            </a:r>
            <a:r>
              <a:rPr lang="it-IT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(double)&gt;</a:t>
            </a:r>
            <a:r>
              <a:rPr lang="it-IT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sizeof</a:t>
            </a:r>
            <a:r>
              <a:rPr lang="it-IT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(a)) </a:t>
            </a:r>
            <a:r>
              <a:rPr lang="it-IT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return</a:t>
            </a:r>
            <a:r>
              <a:rPr lang="it-IT" altLang="en-US" sz="20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0;</a:t>
            </a:r>
          </a:p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	double s = 0.0;</a:t>
            </a:r>
          </a:p>
          <a:p>
            <a:r>
              <a:rPr lang="it-IT" altLang="en-US" sz="2000" dirty="0">
                <a:latin typeface="Courier New" panose="02070309020205020404" pitchFamily="49" charset="0"/>
              </a:rPr>
              <a:t>	for (</a:t>
            </a:r>
            <a:r>
              <a:rPr lang="it-IT" altLang="en-US" sz="2000" dirty="0" err="1">
                <a:latin typeface="Courier New" panose="02070309020205020404" pitchFamily="49" charset="0"/>
              </a:rPr>
              <a:t>int</a:t>
            </a:r>
            <a:r>
              <a:rPr lang="it-IT" altLang="en-US" sz="2000" dirty="0">
                <a:latin typeface="Courier New" panose="02070309020205020404" pitchFamily="49" charset="0"/>
              </a:rPr>
              <a:t> i=0;i&lt;</a:t>
            </a:r>
            <a:r>
              <a:rPr lang="it-IT" altLang="en-US" sz="2000" dirty="0" err="1">
                <a:latin typeface="Courier New" panose="02070309020205020404" pitchFamily="49" charset="0"/>
              </a:rPr>
              <a:t>n;i</a:t>
            </a:r>
            <a:r>
              <a:rPr lang="it-IT" altLang="en-US" sz="2000" dirty="0">
                <a:latin typeface="Courier New" panose="02070309020205020404" pitchFamily="49" charset="0"/>
              </a:rPr>
              <a:t>++) </a:t>
            </a:r>
          </a:p>
          <a:p>
            <a:r>
              <a:rPr lang="it-IT" altLang="en-US" sz="2000" dirty="0">
                <a:latin typeface="Courier New" panose="02070309020205020404" pitchFamily="49" charset="0"/>
              </a:rPr>
              <a:t>		s+=a[i];</a:t>
            </a:r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retur</a:t>
            </a:r>
            <a:r>
              <a:rPr lang="it-IT" altLang="en-US" sz="2000" dirty="0" err="1">
                <a:latin typeface="Courier New" panose="02070309020205020404" pitchFamily="49" charset="0"/>
              </a:rPr>
              <a:t>n</a:t>
            </a:r>
            <a:r>
              <a:rPr lang="it-IT" altLang="en-US" sz="2000" dirty="0">
                <a:latin typeface="Courier New" panose="02070309020205020404" pitchFamily="49" charset="0"/>
              </a:rPr>
              <a:t> s;</a:t>
            </a:r>
          </a:p>
          <a:p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endParaRPr lang="it-IT" altLang="en-US" sz="20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393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F85C8CD-CCCC-4423-AB10-B369DD8C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Inizializzazione di un array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6267" name="Text Box 11">
            <a:extLst>
              <a:ext uri="{FF2B5EF4-FFF2-40B4-BE49-F238E27FC236}">
                <a16:creationId xmlns:a16="http://schemas.microsoft.com/office/drawing/2014/main" id="{1A61FEFF-E153-4B29-9C3C-A1B811B7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856932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Per assegnare un valore ad un elemento di un array si può usare ovviamente l'operatore di assegnamento:</a:t>
            </a:r>
            <a:br>
              <a:rPr lang="it-IT" altLang="en-US" sz="2200" dirty="0">
                <a:solidFill>
                  <a:schemeClr val="tx1"/>
                </a:solidFill>
              </a:rPr>
            </a:b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prezzi[0] = 10; </a:t>
            </a:r>
            <a:br>
              <a:rPr lang="it-IT" altLang="en-US" sz="2200" dirty="0">
                <a:solidFill>
                  <a:schemeClr val="tx1"/>
                </a:solidFill>
              </a:rPr>
            </a:b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  <a:buFont typeface="Times New Roman" panose="02020603050405020304" pitchFamily="18" charset="0"/>
              <a:buBlip>
                <a:blip r:embed="rId3"/>
              </a:buBlip>
            </a:pP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Possiamo inizializzare più elementi</a:t>
            </a:r>
          </a:p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solo in fase di definizione.</a:t>
            </a:r>
          </a:p>
          <a:p>
            <a:pPr>
              <a:buSzPct val="50000"/>
            </a:pP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SzPct val="50000"/>
            </a:pP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numeri[6] = {10, 20, 30, 40, 50, 60};</a:t>
            </a:r>
          </a:p>
          <a:p>
            <a:pPr>
              <a:buSzPct val="50000"/>
            </a:pP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numeri[6] = {10, 20, 30}; </a:t>
            </a:r>
          </a:p>
          <a:p>
            <a:pPr>
              <a:buSzPct val="50000"/>
            </a:pP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// in questo caso possiamo omettere ‘6’, perché?</a:t>
            </a:r>
          </a:p>
          <a:p>
            <a:pPr>
              <a:buSzPct val="50000"/>
            </a:pP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numeri[] = {10, 20, 30, 40, 50, 60}; </a:t>
            </a:r>
          </a:p>
        </p:txBody>
      </p:sp>
      <p:pic>
        <p:nvPicPr>
          <p:cNvPr id="96268" name="Picture 12">
            <a:extLst>
              <a:ext uri="{FF2B5EF4-FFF2-40B4-BE49-F238E27FC236}">
                <a16:creationId xmlns:a16="http://schemas.microsoft.com/office/drawing/2014/main" id="{51DC1AD6-4B77-497B-ACE2-1F5C4DCC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660" y="1916113"/>
            <a:ext cx="4724722" cy="214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F85C8CD-CCCC-4423-AB10-B369DD8C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Inizializzazione di un array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6267" name="Text Box 11">
            <a:extLst>
              <a:ext uri="{FF2B5EF4-FFF2-40B4-BE49-F238E27FC236}">
                <a16:creationId xmlns:a16="http://schemas.microsoft.com/office/drawing/2014/main" id="{1A61FEFF-E153-4B29-9C3C-A1B811B7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80728"/>
            <a:ext cx="83530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Come posso inizializzare un array di 100 elementi tutti pari a zero ?</a:t>
            </a: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411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F85C8CD-CCCC-4423-AB10-B369DD8C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Inizializzazione di un array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6267" name="Text Box 11">
            <a:extLst>
              <a:ext uri="{FF2B5EF4-FFF2-40B4-BE49-F238E27FC236}">
                <a16:creationId xmlns:a16="http://schemas.microsoft.com/office/drawing/2014/main" id="{1A61FEFF-E153-4B29-9C3C-A1B811B7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80728"/>
            <a:ext cx="83530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Come posso inizializzare un array di 100 elementi tutti pari a zero ?</a:t>
            </a: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898B1E-3A34-4480-90BC-5F3CE2ADDC05}"/>
              </a:ext>
            </a:extLst>
          </p:cNvPr>
          <p:cNvSpPr txBox="1"/>
          <p:nvPr/>
        </p:nvSpPr>
        <p:spPr>
          <a:xfrm>
            <a:off x="621643" y="2060228"/>
            <a:ext cx="6318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50000"/>
            </a:pP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 numeri[100] = {0};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DC1386F-18BD-4C68-8B80-4A74EEF4E6B5}"/>
              </a:ext>
            </a:extLst>
          </p:cNvPr>
          <p:cNvSpPr txBox="1"/>
          <p:nvPr/>
        </p:nvSpPr>
        <p:spPr>
          <a:xfrm>
            <a:off x="621643" y="3108589"/>
            <a:ext cx="80548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50000"/>
            </a:pPr>
            <a:r>
              <a:rPr lang="it-IT" altLang="en-US" sz="2400" dirty="0">
                <a:solidFill>
                  <a:schemeClr val="tx1"/>
                </a:solidFill>
              </a:rPr>
              <a:t>L’inizializzazione parziale può infatti essere sfruttata per inizializzare un array con elementi tutti pari a zero. Un altro modo per inizializzare gli elementi di un array è usare un ciclo.</a:t>
            </a:r>
            <a:endParaRPr lang="it-IT" altLang="en-US" sz="24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7CE99D-5FCB-4408-B3A1-380B9C2DF9CC}"/>
              </a:ext>
            </a:extLst>
          </p:cNvPr>
          <p:cNvSpPr txBox="1"/>
          <p:nvPr/>
        </p:nvSpPr>
        <p:spPr>
          <a:xfrm>
            <a:off x="683568" y="458783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50000"/>
            </a:pPr>
            <a:r>
              <a:rPr lang="it-IT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numeri[100];</a:t>
            </a: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for(</a:t>
            </a:r>
            <a:r>
              <a:rPr lang="it-IT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i=0;i&lt;100;i++)</a:t>
            </a:r>
          </a:p>
          <a:p>
            <a:pPr>
              <a:buSzPct val="50000"/>
            </a:pPr>
            <a:r>
              <a:rPr lang="it-IT" altLang="en-US" dirty="0">
                <a:latin typeface="Courier New" panose="02070309020205020404" pitchFamily="49" charset="0"/>
              </a:rPr>
              <a:t>	numeri[i]=i*2;</a:t>
            </a:r>
            <a:endParaRPr lang="it-IT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136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F85C8CD-CCCC-4423-AB10-B369DD8C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Inizializzazione di un array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6267" name="Text Box 11">
            <a:extLst>
              <a:ext uri="{FF2B5EF4-FFF2-40B4-BE49-F238E27FC236}">
                <a16:creationId xmlns:a16="http://schemas.microsoft.com/office/drawing/2014/main" id="{1A61FEFF-E153-4B29-9C3C-A1B811B7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80728"/>
            <a:ext cx="83530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Quale sarà l’output di questo codice? </a:t>
            </a: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3338A7-01C3-4D41-989C-C3EFC03616EB}"/>
              </a:ext>
            </a:extLst>
          </p:cNvPr>
          <p:cNvSpPr txBox="1"/>
          <p:nvPr/>
        </p:nvSpPr>
        <p:spPr>
          <a:xfrm>
            <a:off x="611560" y="1916832"/>
            <a:ext cx="6552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50000"/>
            </a:pPr>
            <a:r>
              <a:rPr lang="it-IT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n = 100;</a:t>
            </a:r>
          </a:p>
          <a:p>
            <a:pPr>
              <a:buSzPct val="50000"/>
            </a:pPr>
            <a:r>
              <a:rPr lang="it-IT" altLang="en-US" dirty="0" err="1">
                <a:latin typeface="Courier New" panose="02070309020205020404" pitchFamily="49" charset="0"/>
              </a:rPr>
              <a:t>int</a:t>
            </a:r>
            <a:r>
              <a:rPr lang="it-IT" altLang="en-US" dirty="0">
                <a:latin typeface="Courier New" panose="02070309020205020404" pitchFamily="49" charset="0"/>
              </a:rPr>
              <a:t> a[n] = {0};</a:t>
            </a:r>
          </a:p>
          <a:p>
            <a:pPr>
              <a:buSzPct val="50000"/>
            </a:pPr>
            <a:endParaRPr lang="it-IT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dirty="0">
                <a:latin typeface="Courier New" panose="02070309020205020404" pitchFamily="49" charset="0"/>
              </a:rPr>
              <a:t>n = 200;</a:t>
            </a: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dirty="0" err="1">
                <a:latin typeface="Courier New" panose="02070309020205020404" pitchFamily="49" charset="0"/>
              </a:rPr>
              <a:t>cout</a:t>
            </a:r>
            <a:r>
              <a:rPr lang="it-IT" altLang="en-US" dirty="0">
                <a:latin typeface="Courier New" panose="02070309020205020404" pitchFamily="49" charset="0"/>
              </a:rPr>
              <a:t> &lt;&lt; </a:t>
            </a:r>
            <a:r>
              <a:rPr lang="it-IT" altLang="en-US" dirty="0" err="1">
                <a:latin typeface="Courier New" panose="02070309020205020404" pitchFamily="49" charset="0"/>
              </a:rPr>
              <a:t>sizeof</a:t>
            </a:r>
            <a:r>
              <a:rPr lang="it-IT" altLang="en-US" dirty="0">
                <a:latin typeface="Courier New" panose="02070309020205020404" pitchFamily="49" charset="0"/>
              </a:rPr>
              <a:t>(a)/</a:t>
            </a:r>
            <a:r>
              <a:rPr lang="it-IT" altLang="en-US" dirty="0" err="1">
                <a:latin typeface="Courier New" panose="02070309020205020404" pitchFamily="49" charset="0"/>
              </a:rPr>
              <a:t>sizeof</a:t>
            </a:r>
            <a:r>
              <a:rPr lang="it-IT" altLang="en-US" dirty="0">
                <a:latin typeface="Courier New" panose="02070309020205020404" pitchFamily="49" charset="0"/>
              </a:rPr>
              <a:t>(</a:t>
            </a:r>
            <a:r>
              <a:rPr lang="it-IT" altLang="en-US" dirty="0" err="1">
                <a:latin typeface="Courier New" panose="02070309020205020404" pitchFamily="49" charset="0"/>
              </a:rPr>
              <a:t>int</a:t>
            </a:r>
            <a:r>
              <a:rPr lang="it-IT" altLang="en-US" dirty="0">
                <a:latin typeface="Courier New" panose="02070309020205020404" pitchFamily="49" charset="0"/>
              </a:rPr>
              <a:t>) &lt;&lt; </a:t>
            </a:r>
            <a:r>
              <a:rPr lang="it-IT" altLang="en-US" dirty="0" err="1">
                <a:latin typeface="Courier New" panose="02070309020205020404" pitchFamily="49" charset="0"/>
              </a:rPr>
              <a:t>endl</a:t>
            </a:r>
            <a:r>
              <a:rPr lang="it-IT" altLang="en-US" dirty="0">
                <a:latin typeface="Courier New" panose="02070309020205020404" pitchFamily="49" charset="0"/>
              </a:rPr>
              <a:t>;</a:t>
            </a:r>
          </a:p>
          <a:p>
            <a:pPr>
              <a:buSzPct val="50000"/>
            </a:pPr>
            <a:endParaRPr lang="it-IT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037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8F85C8CD-CCCC-4423-AB10-B369DD8C0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Inizializzazione di un array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6267" name="Text Box 11">
            <a:extLst>
              <a:ext uri="{FF2B5EF4-FFF2-40B4-BE49-F238E27FC236}">
                <a16:creationId xmlns:a16="http://schemas.microsoft.com/office/drawing/2014/main" id="{1A61FEFF-E153-4B29-9C3C-A1B811B7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980728"/>
            <a:ext cx="83530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Quale sarà l’output di questo codice? </a:t>
            </a: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3338A7-01C3-4D41-989C-C3EFC03616EB}"/>
              </a:ext>
            </a:extLst>
          </p:cNvPr>
          <p:cNvSpPr txBox="1"/>
          <p:nvPr/>
        </p:nvSpPr>
        <p:spPr>
          <a:xfrm>
            <a:off x="611560" y="1916832"/>
            <a:ext cx="655272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50000"/>
            </a:pPr>
            <a:r>
              <a:rPr lang="it-IT" altLang="en-US" sz="18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1800" dirty="0">
                <a:solidFill>
                  <a:schemeClr val="tx1"/>
                </a:solidFill>
                <a:latin typeface="Courier New" panose="02070309020205020404" pitchFamily="49" charset="0"/>
              </a:rPr>
              <a:t> n = 100;</a:t>
            </a:r>
          </a:p>
          <a:p>
            <a:pPr>
              <a:buSzPct val="50000"/>
            </a:pPr>
            <a:r>
              <a:rPr lang="it-IT" altLang="en-US" dirty="0" err="1">
                <a:latin typeface="Courier New" panose="02070309020205020404" pitchFamily="49" charset="0"/>
              </a:rPr>
              <a:t>int</a:t>
            </a:r>
            <a:r>
              <a:rPr lang="it-IT" altLang="en-US" dirty="0">
                <a:latin typeface="Courier New" panose="02070309020205020404" pitchFamily="49" charset="0"/>
              </a:rPr>
              <a:t> a[n] = {0};</a:t>
            </a:r>
          </a:p>
          <a:p>
            <a:pPr>
              <a:buSzPct val="50000"/>
            </a:pPr>
            <a:endParaRPr lang="it-IT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dirty="0">
                <a:latin typeface="Courier New" panose="02070309020205020404" pitchFamily="49" charset="0"/>
              </a:rPr>
              <a:t>n = 200;</a:t>
            </a: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dirty="0" err="1">
                <a:latin typeface="Courier New" panose="02070309020205020404" pitchFamily="49" charset="0"/>
              </a:rPr>
              <a:t>cout</a:t>
            </a:r>
            <a:r>
              <a:rPr lang="it-IT" altLang="en-US" dirty="0">
                <a:latin typeface="Courier New" panose="02070309020205020404" pitchFamily="49" charset="0"/>
              </a:rPr>
              <a:t> &lt;&lt; </a:t>
            </a:r>
            <a:r>
              <a:rPr lang="it-IT" altLang="en-US" dirty="0" err="1">
                <a:latin typeface="Courier New" panose="02070309020205020404" pitchFamily="49" charset="0"/>
              </a:rPr>
              <a:t>sizeof</a:t>
            </a:r>
            <a:r>
              <a:rPr lang="it-IT" altLang="en-US" dirty="0">
                <a:latin typeface="Courier New" panose="02070309020205020404" pitchFamily="49" charset="0"/>
              </a:rPr>
              <a:t>(a)/</a:t>
            </a:r>
            <a:r>
              <a:rPr lang="it-IT" altLang="en-US" dirty="0" err="1">
                <a:latin typeface="Courier New" panose="02070309020205020404" pitchFamily="49" charset="0"/>
              </a:rPr>
              <a:t>sizeof</a:t>
            </a:r>
            <a:r>
              <a:rPr lang="it-IT" altLang="en-US" dirty="0">
                <a:latin typeface="Courier New" panose="02070309020205020404" pitchFamily="49" charset="0"/>
              </a:rPr>
              <a:t>(</a:t>
            </a:r>
            <a:r>
              <a:rPr lang="it-IT" altLang="en-US" dirty="0" err="1">
                <a:latin typeface="Courier New" panose="02070309020205020404" pitchFamily="49" charset="0"/>
              </a:rPr>
              <a:t>int</a:t>
            </a:r>
            <a:r>
              <a:rPr lang="it-IT" altLang="en-US" dirty="0">
                <a:latin typeface="Courier New" panose="02070309020205020404" pitchFamily="49" charset="0"/>
              </a:rPr>
              <a:t>) &lt;&lt; </a:t>
            </a:r>
            <a:r>
              <a:rPr lang="it-IT" altLang="en-US" dirty="0" err="1">
                <a:latin typeface="Courier New" panose="02070309020205020404" pitchFamily="49" charset="0"/>
              </a:rPr>
              <a:t>endl</a:t>
            </a:r>
            <a:r>
              <a:rPr lang="it-IT" altLang="en-US" dirty="0">
                <a:latin typeface="Courier New" panose="02070309020205020404" pitchFamily="49" charset="0"/>
              </a:rPr>
              <a:t>;</a:t>
            </a: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endParaRPr lang="it-IT" altLang="en-US" dirty="0">
              <a:latin typeface="Courier New" panose="02070309020205020404" pitchFamily="49" charset="0"/>
            </a:endParaRPr>
          </a:p>
          <a:p>
            <a:pPr>
              <a:buSzPct val="50000"/>
            </a:pPr>
            <a:r>
              <a:rPr lang="it-IT" altLang="en-US" sz="2000" b="1" i="1" dirty="0">
                <a:latin typeface="Courier New" panose="02070309020205020404" pitchFamily="49" charset="0"/>
              </a:rPr>
              <a:t>&gt;&gt;&gt; 100</a:t>
            </a:r>
          </a:p>
          <a:p>
            <a:pPr>
              <a:buSzPct val="50000"/>
            </a:pPr>
            <a:endParaRPr lang="it-IT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1F9A599E-74BF-469B-A551-3D5D4C109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5086931"/>
            <a:ext cx="822411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La dimensione dell’array viene fissata all’atto della sua dichiarazione dal compilatore mediante il </a:t>
            </a:r>
            <a:r>
              <a:rPr lang="it-IT" altLang="en-US" sz="2200" b="1" i="1" dirty="0">
                <a:solidFill>
                  <a:schemeClr val="tx1"/>
                </a:solidFill>
              </a:rPr>
              <a:t>valore attuale</a:t>
            </a:r>
            <a:r>
              <a:rPr lang="it-IT" altLang="en-US" sz="2200" dirty="0">
                <a:solidFill>
                  <a:schemeClr val="tx1"/>
                </a:solidFill>
              </a:rPr>
              <a:t> della variabile </a:t>
            </a:r>
            <a:r>
              <a:rPr lang="it-IT" altLang="en-US" sz="2200" i="1" dirty="0">
                <a:solidFill>
                  <a:schemeClr val="tx1"/>
                </a:solidFill>
              </a:rPr>
              <a:t>n</a:t>
            </a:r>
            <a:r>
              <a:rPr lang="it-IT" altLang="en-US" sz="2200" dirty="0">
                <a:solidFill>
                  <a:schemeClr val="tx1"/>
                </a:solidFill>
              </a:rPr>
              <a:t>. Le eventuali successive variazioni del valore di </a:t>
            </a:r>
            <a:r>
              <a:rPr lang="it-IT" altLang="en-US" sz="2200" i="1" dirty="0">
                <a:solidFill>
                  <a:schemeClr val="tx1"/>
                </a:solidFill>
              </a:rPr>
              <a:t>n</a:t>
            </a:r>
            <a:r>
              <a:rPr lang="it-IT" altLang="en-US" sz="2200" dirty="0">
                <a:solidFill>
                  <a:schemeClr val="tx1"/>
                </a:solidFill>
              </a:rPr>
              <a:t> (o la sua rimozione dalla memoria) non hanno alcun effetto sull’array.</a:t>
            </a:r>
            <a:endParaRPr lang="it-IT" altLang="en-US" sz="22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1532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FA9E1CC-92A0-4D42-8128-30306F7CD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7761288" cy="865187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Array di caratteri e stringhe </a:t>
            </a:r>
            <a:endParaRPr lang="en-GB" sz="4000" dirty="0">
              <a:latin typeface="Bitstream Charter" charset="0"/>
              <a:ea typeface="+mj-ea"/>
              <a:cs typeface="+mj-cs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165A2F8-6B26-4E5C-BC98-848EEF286F28}"/>
              </a:ext>
            </a:extLst>
          </p:cNvPr>
          <p:cNvSpPr txBox="1"/>
          <p:nvPr/>
        </p:nvSpPr>
        <p:spPr>
          <a:xfrm>
            <a:off x="611560" y="3429000"/>
            <a:ext cx="799288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char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 caratteri[] = {‘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A’,’l’,’d’,’o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’};</a:t>
            </a:r>
          </a:p>
          <a:p>
            <a:r>
              <a:rPr lang="it-IT" altLang="en-US" sz="2000" dirty="0" err="1">
                <a:latin typeface="Courier New" panose="02070309020205020404" pitchFamily="49" charset="0"/>
              </a:rPr>
              <a:t>char</a:t>
            </a:r>
            <a:r>
              <a:rPr lang="it-IT" altLang="en-US" sz="2000" dirty="0">
                <a:latin typeface="Courier New" panose="02070309020205020404" pitchFamily="49" charset="0"/>
              </a:rPr>
              <a:t> stringa1[] = ’’Aldo’’;</a:t>
            </a:r>
          </a:p>
          <a:p>
            <a:endParaRPr lang="it-IT" altLang="en-US" sz="2000" dirty="0">
              <a:latin typeface="Courier New" panose="02070309020205020404" pitchFamily="49" charset="0"/>
            </a:endParaRPr>
          </a:p>
          <a:p>
            <a:r>
              <a:rPr lang="it-IT" altLang="en-US" sz="2000" dirty="0" err="1">
                <a:latin typeface="Courier New" panose="02070309020205020404" pitchFamily="49" charset="0"/>
              </a:rPr>
              <a:t>cout</a:t>
            </a:r>
            <a:r>
              <a:rPr lang="it-IT" altLang="en-US" sz="2000" dirty="0">
                <a:latin typeface="Courier New" panose="02070309020205020404" pitchFamily="49" charset="0"/>
              </a:rPr>
              <a:t>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sizeof</a:t>
            </a:r>
            <a:r>
              <a:rPr lang="it-IT" altLang="en-US" sz="2000" dirty="0">
                <a:latin typeface="Courier New" panose="02070309020205020404" pitchFamily="49" charset="0"/>
              </a:rPr>
              <a:t>(caratteri)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endl</a:t>
            </a:r>
            <a:r>
              <a:rPr lang="it-IT" altLang="en-US" sz="2000" dirty="0">
                <a:latin typeface="Courier New" panose="02070309020205020404" pitchFamily="49" charset="0"/>
              </a:rPr>
              <a:t>;</a:t>
            </a:r>
          </a:p>
          <a:p>
            <a:r>
              <a:rPr lang="it-IT" altLang="en-US" sz="2000" dirty="0" err="1">
                <a:latin typeface="Courier New" panose="02070309020205020404" pitchFamily="49" charset="0"/>
              </a:rPr>
              <a:t>cout</a:t>
            </a:r>
            <a:r>
              <a:rPr lang="it-IT" altLang="en-US" sz="2000" dirty="0">
                <a:latin typeface="Courier New" panose="02070309020205020404" pitchFamily="49" charset="0"/>
              </a:rPr>
              <a:t>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sizeof</a:t>
            </a:r>
            <a:r>
              <a:rPr lang="it-IT" altLang="en-US" sz="2000" dirty="0">
                <a:latin typeface="Courier New" panose="02070309020205020404" pitchFamily="49" charset="0"/>
              </a:rPr>
              <a:t>(stringa1)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endl</a:t>
            </a:r>
            <a:r>
              <a:rPr lang="it-IT" altLang="en-US" sz="2000" dirty="0">
                <a:latin typeface="Courier New" panose="02070309020205020404" pitchFamily="49" charset="0"/>
              </a:rPr>
              <a:t>;</a:t>
            </a:r>
          </a:p>
          <a:p>
            <a:endParaRPr lang="it-IT" altLang="en-US" sz="2000" dirty="0">
              <a:latin typeface="Courier New" panose="02070309020205020404" pitchFamily="49" charset="0"/>
            </a:endParaRPr>
          </a:p>
          <a:p>
            <a:r>
              <a:rPr lang="it-IT" altLang="en-US" sz="2000" b="1" dirty="0">
                <a:latin typeface="Courier New" panose="02070309020205020404" pitchFamily="49" charset="0"/>
              </a:rPr>
              <a:t>Output:</a:t>
            </a:r>
          </a:p>
          <a:p>
            <a:endParaRPr lang="it-IT" altLang="en-US" sz="2000" b="1" dirty="0">
              <a:latin typeface="Courier New" panose="02070309020205020404" pitchFamily="49" charset="0"/>
            </a:endParaRPr>
          </a:p>
          <a:p>
            <a:endParaRPr lang="it-IT" altLang="en-US" sz="2000" dirty="0">
              <a:latin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C3A2E-0D40-46FB-9E4F-58B42A0FC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36" y="1196752"/>
            <a:ext cx="7992888" cy="1280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38200" indent="-3810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-3810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200" dirty="0">
                <a:solidFill>
                  <a:srgbClr val="000000"/>
                </a:solidFill>
              </a:rPr>
              <a:t>Qual è l’output del seguente codice ?</a:t>
            </a:r>
          </a:p>
          <a:p>
            <a:pPr marL="0" indent="-3810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5338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FA9E1CC-92A0-4D42-8128-30306F7CD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7761288" cy="865187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Array di caratteri e stringhe </a:t>
            </a:r>
            <a:endParaRPr lang="en-GB" sz="4000" dirty="0">
              <a:latin typeface="Bitstream Charter" charset="0"/>
              <a:ea typeface="+mj-ea"/>
              <a:cs typeface="+mj-cs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165A2F8-6B26-4E5C-BC98-848EEF286F28}"/>
              </a:ext>
            </a:extLst>
          </p:cNvPr>
          <p:cNvSpPr txBox="1"/>
          <p:nvPr/>
        </p:nvSpPr>
        <p:spPr>
          <a:xfrm>
            <a:off x="611560" y="3429000"/>
            <a:ext cx="7992888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char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 caratteri[] = {‘</a:t>
            </a:r>
            <a:r>
              <a:rPr lang="it-IT" altLang="en-US" sz="2000" dirty="0" err="1">
                <a:solidFill>
                  <a:schemeClr val="tx1"/>
                </a:solidFill>
                <a:latin typeface="Courier New" panose="02070309020205020404" pitchFamily="49" charset="0"/>
              </a:rPr>
              <a:t>A’,’l’,’d’,’o</a:t>
            </a:r>
            <a:r>
              <a:rPr lang="it-IT" altLang="en-US" sz="2000" dirty="0">
                <a:solidFill>
                  <a:schemeClr val="tx1"/>
                </a:solidFill>
                <a:latin typeface="Courier New" panose="02070309020205020404" pitchFamily="49" charset="0"/>
              </a:rPr>
              <a:t>’};</a:t>
            </a:r>
          </a:p>
          <a:p>
            <a:r>
              <a:rPr lang="it-IT" altLang="en-US" sz="2000" dirty="0" err="1">
                <a:latin typeface="Courier New" panose="02070309020205020404" pitchFamily="49" charset="0"/>
              </a:rPr>
              <a:t>char</a:t>
            </a:r>
            <a:r>
              <a:rPr lang="it-IT" altLang="en-US" sz="2000" dirty="0">
                <a:latin typeface="Courier New" panose="02070309020205020404" pitchFamily="49" charset="0"/>
              </a:rPr>
              <a:t> stringa1[] = ’’Aldo’’;</a:t>
            </a:r>
          </a:p>
          <a:p>
            <a:endParaRPr lang="it-IT" altLang="en-US" sz="2000" dirty="0">
              <a:latin typeface="Courier New" panose="02070309020205020404" pitchFamily="49" charset="0"/>
            </a:endParaRPr>
          </a:p>
          <a:p>
            <a:r>
              <a:rPr lang="it-IT" altLang="en-US" sz="2000" dirty="0" err="1">
                <a:latin typeface="Courier New" panose="02070309020205020404" pitchFamily="49" charset="0"/>
              </a:rPr>
              <a:t>cout</a:t>
            </a:r>
            <a:r>
              <a:rPr lang="it-IT" altLang="en-US" sz="2000" dirty="0">
                <a:latin typeface="Courier New" panose="02070309020205020404" pitchFamily="49" charset="0"/>
              </a:rPr>
              <a:t>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sizeof</a:t>
            </a:r>
            <a:r>
              <a:rPr lang="it-IT" altLang="en-US" sz="2000" dirty="0">
                <a:latin typeface="Courier New" panose="02070309020205020404" pitchFamily="49" charset="0"/>
              </a:rPr>
              <a:t>(caratteri)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endl</a:t>
            </a:r>
            <a:r>
              <a:rPr lang="it-IT" altLang="en-US" sz="2000" dirty="0">
                <a:latin typeface="Courier New" panose="02070309020205020404" pitchFamily="49" charset="0"/>
              </a:rPr>
              <a:t>;</a:t>
            </a:r>
          </a:p>
          <a:p>
            <a:r>
              <a:rPr lang="it-IT" altLang="en-US" sz="2000" dirty="0" err="1">
                <a:latin typeface="Courier New" panose="02070309020205020404" pitchFamily="49" charset="0"/>
              </a:rPr>
              <a:t>cout</a:t>
            </a:r>
            <a:r>
              <a:rPr lang="it-IT" altLang="en-US" sz="2000" dirty="0">
                <a:latin typeface="Courier New" panose="02070309020205020404" pitchFamily="49" charset="0"/>
              </a:rPr>
              <a:t>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sizeof</a:t>
            </a:r>
            <a:r>
              <a:rPr lang="it-IT" altLang="en-US" sz="2000" dirty="0">
                <a:latin typeface="Courier New" panose="02070309020205020404" pitchFamily="49" charset="0"/>
              </a:rPr>
              <a:t>(stringa1) &lt;&lt; </a:t>
            </a:r>
            <a:r>
              <a:rPr lang="it-IT" altLang="en-US" sz="2000" dirty="0" err="1">
                <a:latin typeface="Courier New" panose="02070309020205020404" pitchFamily="49" charset="0"/>
              </a:rPr>
              <a:t>endl</a:t>
            </a:r>
            <a:r>
              <a:rPr lang="it-IT" altLang="en-US" sz="2000" dirty="0">
                <a:latin typeface="Courier New" panose="02070309020205020404" pitchFamily="49" charset="0"/>
              </a:rPr>
              <a:t>;</a:t>
            </a:r>
          </a:p>
          <a:p>
            <a:endParaRPr lang="it-IT" altLang="en-US" sz="2000" dirty="0">
              <a:latin typeface="Courier New" panose="02070309020205020404" pitchFamily="49" charset="0"/>
            </a:endParaRPr>
          </a:p>
          <a:p>
            <a:r>
              <a:rPr lang="it-IT" altLang="en-US" sz="2000" b="1" dirty="0">
                <a:latin typeface="Courier New" panose="02070309020205020404" pitchFamily="49" charset="0"/>
              </a:rPr>
              <a:t>Output:</a:t>
            </a:r>
          </a:p>
          <a:p>
            <a:r>
              <a:rPr lang="it-IT" altLang="en-US" sz="2000" dirty="0">
                <a:latin typeface="Courier New" panose="02070309020205020404" pitchFamily="49" charset="0"/>
              </a:rPr>
              <a:t>4</a:t>
            </a:r>
          </a:p>
          <a:p>
            <a:r>
              <a:rPr lang="it-IT" altLang="en-US" sz="2000" dirty="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C3A2E-0D40-46FB-9E4F-58B42A0FC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36" y="1196752"/>
            <a:ext cx="7992888" cy="1280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38200" indent="-3810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-3810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200" dirty="0">
                <a:solidFill>
                  <a:srgbClr val="000000"/>
                </a:solidFill>
              </a:rPr>
              <a:t>Qual è l’output del seguente codice ?</a:t>
            </a:r>
          </a:p>
          <a:p>
            <a:pPr marL="0" indent="-3810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  <a:p>
            <a:pPr marL="0" indent="-3810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>
                <a:solidFill>
                  <a:srgbClr val="000000"/>
                </a:solidFill>
                <a:latin typeface="Courier"/>
              </a:rPr>
              <a:t>caratteri[] </a:t>
            </a:r>
            <a:r>
              <a:rPr lang="it-IT" altLang="en-US" sz="2200" dirty="0">
                <a:solidFill>
                  <a:srgbClr val="000000"/>
                </a:solidFill>
              </a:rPr>
              <a:t>viene visto come array di </a:t>
            </a:r>
            <a:r>
              <a:rPr lang="it-IT" altLang="en-US" sz="2200" dirty="0" err="1">
                <a:solidFill>
                  <a:srgbClr val="000000"/>
                </a:solidFill>
              </a:rPr>
              <a:t>char</a:t>
            </a:r>
            <a:r>
              <a:rPr lang="it-IT" altLang="en-US" sz="2200" dirty="0">
                <a:solidFill>
                  <a:srgbClr val="000000"/>
                </a:solidFill>
              </a:rPr>
              <a:t>, mentre </a:t>
            </a:r>
            <a:r>
              <a:rPr lang="it-IT" altLang="en-US" sz="2000" dirty="0">
                <a:solidFill>
                  <a:srgbClr val="000000"/>
                </a:solidFill>
                <a:latin typeface="Courier"/>
              </a:rPr>
              <a:t>stringa1[]</a:t>
            </a:r>
            <a:r>
              <a:rPr lang="it-IT" altLang="en-US" sz="2200" dirty="0">
                <a:solidFill>
                  <a:srgbClr val="000000"/>
                </a:solidFill>
              </a:rPr>
              <a:t> come stringa di caratteri, la quale è un un vettore di </a:t>
            </a:r>
            <a:r>
              <a:rPr lang="it-IT" altLang="en-US" sz="2200" dirty="0" err="1">
                <a:solidFill>
                  <a:srgbClr val="000000"/>
                </a:solidFill>
              </a:rPr>
              <a:t>char</a:t>
            </a:r>
            <a:r>
              <a:rPr lang="it-IT" altLang="en-US" sz="2200" dirty="0">
                <a:solidFill>
                  <a:srgbClr val="000000"/>
                </a:solidFill>
              </a:rPr>
              <a:t> con l’aggiunta di un carattere conclusivo in più, cioè il carattere ASCII NULL (otto bit pari a zero).</a:t>
            </a:r>
          </a:p>
        </p:txBody>
      </p:sp>
    </p:spTree>
    <p:extLst>
      <p:ext uri="{BB962C8B-B14F-4D97-AF65-F5344CB8AC3E}">
        <p14:creationId xmlns:p14="http://schemas.microsoft.com/office/powerpoint/2010/main" val="1989234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FA9E1CC-92A0-4D42-8128-30306F7CD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7761288" cy="865187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Array di caratteri e stringhe </a:t>
            </a:r>
            <a:endParaRPr lang="en-GB" sz="4000" dirty="0">
              <a:latin typeface="Bitstream Charter" charset="0"/>
              <a:ea typeface="+mj-ea"/>
              <a:cs typeface="+mj-cs"/>
            </a:endParaRP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3EEB8755-42E2-4E31-9944-A001B8530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212572"/>
            <a:ext cx="8424936" cy="1280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38200" indent="-3810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-3810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200" dirty="0">
                <a:solidFill>
                  <a:srgbClr val="000000"/>
                </a:solidFill>
              </a:rPr>
              <a:t>C++ rappresenta le stringhe di testo inserendole in array di caratteri che terminano con il carattere nullo ‘</a:t>
            </a:r>
            <a:r>
              <a:rPr lang="it-IT" altLang="en-US" sz="2200" dirty="0">
                <a:solidFill>
                  <a:srgbClr val="000000"/>
                </a:solidFill>
                <a:latin typeface="Courier New" panose="02070309020205020404" pitchFamily="49" charset="0"/>
              </a:rPr>
              <a:t>\0’</a:t>
            </a:r>
            <a:r>
              <a:rPr lang="it-IT" altLang="en-US" sz="2200" dirty="0">
                <a:solidFill>
                  <a:srgbClr val="000000"/>
                </a:solidFill>
              </a:rPr>
              <a:t> (caso b in figura); senza di esso la stringa non è tale ma è un semplice array di caratteri (caso a)</a:t>
            </a:r>
          </a:p>
        </p:txBody>
      </p:sp>
      <p:sp>
        <p:nvSpPr>
          <p:cNvPr id="77831" name="Text Box 7">
            <a:extLst>
              <a:ext uri="{FF2B5EF4-FFF2-40B4-BE49-F238E27FC236}">
                <a16:creationId xmlns:a16="http://schemas.microsoft.com/office/drawing/2014/main" id="{7878C366-1305-49A0-A515-47653F962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89588"/>
            <a:ext cx="579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char</a:t>
            </a:r>
            <a:r>
              <a:rPr lang="it-IT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Stringa2[9] = "Mortimer" </a:t>
            </a:r>
            <a:r>
              <a:rPr lang="it-IT" sz="18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</a:p>
        </p:txBody>
      </p:sp>
      <p:pic>
        <p:nvPicPr>
          <p:cNvPr id="77833" name="Picture 9">
            <a:extLst>
              <a:ext uri="{FF2B5EF4-FFF2-40B4-BE49-F238E27FC236}">
                <a16:creationId xmlns:a16="http://schemas.microsoft.com/office/drawing/2014/main" id="{D8E544BD-1D47-4DD5-A2EC-27D3EEC45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48880"/>
            <a:ext cx="5782451" cy="3121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FF5B5DAF-5BB0-47C3-B5D9-37DF933F1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7761288" cy="865187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Array di caratteri e stringhe: note </a:t>
            </a:r>
            <a:endParaRPr lang="en-GB" sz="4000" dirty="0">
              <a:latin typeface="Bitstream Charter" charset="0"/>
              <a:ea typeface="+mj-ea"/>
              <a:cs typeface="+mj-cs"/>
            </a:endParaRPr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CD11C347-2777-4ED3-A5DB-4D9101065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908720"/>
            <a:ext cx="7956748" cy="345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38200" indent="-3810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95350" algn="l"/>
                <a:tab pos="1344613" algn="l"/>
                <a:tab pos="1793875" algn="l"/>
                <a:tab pos="2243138" algn="l"/>
                <a:tab pos="2692400" algn="l"/>
                <a:tab pos="3141663" algn="l"/>
                <a:tab pos="3590925" algn="l"/>
                <a:tab pos="4040188" algn="l"/>
                <a:tab pos="4489450" algn="l"/>
                <a:tab pos="4938713" algn="l"/>
                <a:tab pos="5387975" algn="l"/>
                <a:tab pos="5837238" algn="l"/>
                <a:tab pos="6286500" algn="l"/>
                <a:tab pos="6735763" algn="l"/>
                <a:tab pos="7185025" algn="l"/>
                <a:tab pos="7634288" algn="l"/>
                <a:tab pos="8083550" algn="l"/>
                <a:tab pos="8532813" algn="l"/>
                <a:tab pos="8982075" algn="l"/>
                <a:tab pos="94313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200" dirty="0">
                <a:solidFill>
                  <a:srgbClr val="000000"/>
                </a:solidFill>
              </a:rPr>
              <a:t>Non si può assegnare una stringa ad un array al di fuori della definizione: 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>
                <a:solidFill>
                  <a:srgbClr val="000000"/>
                </a:solidFill>
              </a:rPr>
              <a:t>	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stringa=</a:t>
            </a:r>
            <a:r>
              <a:rPr lang="it-IT" altLang="it-IT" sz="2000" dirty="0">
                <a:solidFill>
                  <a:srgbClr val="000000"/>
                </a:solidFill>
                <a:latin typeface="Courier" charset="0"/>
              </a:rPr>
              <a:t>“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Ciao</a:t>
            </a:r>
            <a:r>
              <a:rPr lang="it-IT" altLang="it-IT" sz="2000" dirty="0">
                <a:solidFill>
                  <a:srgbClr val="000000"/>
                </a:solidFill>
                <a:latin typeface="Courier" charset="0"/>
              </a:rPr>
              <a:t>”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;// Darebbe luogo ad errore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200" dirty="0">
                <a:solidFill>
                  <a:srgbClr val="000000"/>
                </a:solidFill>
              </a:rPr>
              <a:t>Si utilizza la funzione di libreria </a:t>
            </a:r>
            <a:r>
              <a:rPr lang="it-IT" altLang="en-US" sz="2200" dirty="0" err="1">
                <a:solidFill>
                  <a:srgbClr val="000000"/>
                </a:solidFill>
              </a:rPr>
              <a:t>strcpy</a:t>
            </a:r>
            <a:r>
              <a:rPr lang="it-IT" altLang="en-US" sz="2200" dirty="0">
                <a:solidFill>
                  <a:srgbClr val="000000"/>
                </a:solidFill>
              </a:rPr>
              <a:t> (che automatizza l’aggiunta del carattere \0 alla fine della stringa)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	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strcpy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(nome, </a:t>
            </a:r>
            <a:r>
              <a:rPr lang="it-IT" altLang="it-IT" sz="2000" dirty="0">
                <a:solidFill>
                  <a:srgbClr val="000000"/>
                </a:solidFill>
                <a:latin typeface="Courier" charset="0"/>
              </a:rPr>
              <a:t>“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Ciao</a:t>
            </a:r>
            <a:r>
              <a:rPr lang="it-IT" altLang="it-IT" sz="2000" dirty="0">
                <a:solidFill>
                  <a:srgbClr val="000000"/>
                </a:solidFill>
                <a:latin typeface="Courier" charset="0"/>
              </a:rPr>
              <a:t>”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); 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200" dirty="0">
                <a:solidFill>
                  <a:srgbClr val="000000"/>
                </a:solidFill>
              </a:rPr>
              <a:t>Il compilatore inserisce automaticamente il carattere nullo alla fine della stringa, tuttavia il carattere nullo non deve essere necessariamente l’ultimo elemento del vettore…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char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 </a:t>
            </a: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str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[] = "</a:t>
            </a: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HelloWorld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";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str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[5] = '\0’;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cout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 &lt;&lt; </a:t>
            </a: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str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 &lt;&lt; </a:t>
            </a:r>
            <a:r>
              <a:rPr lang="it-IT" altLang="en-US" sz="2000" dirty="0" err="1">
                <a:solidFill>
                  <a:srgbClr val="000000"/>
                </a:solidFill>
                <a:latin typeface="Courier" charset="0"/>
              </a:rPr>
              <a:t>endl</a:t>
            </a:r>
            <a:r>
              <a:rPr lang="it-IT" altLang="en-US" sz="2000" dirty="0">
                <a:solidFill>
                  <a:srgbClr val="000000"/>
                </a:solidFill>
                <a:latin typeface="Courier" charset="0"/>
              </a:rPr>
              <a:t>;</a:t>
            </a:r>
          </a:p>
          <a:p>
            <a:pPr marL="0" lvl="1" indent="0" algn="just">
              <a:lnSpc>
                <a:spcPct val="90000"/>
              </a:lnSpc>
              <a:spcBef>
                <a:spcPct val="20000"/>
              </a:spcBef>
              <a:buSzPct val="50000"/>
            </a:pPr>
            <a:endParaRPr lang="it-IT" altLang="en-US"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153F5A14-3C82-4F1C-82B5-9DE1BA8DC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Array multidimensionali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F1FB2988-07ED-4130-A1DC-6EE6B3B3C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621712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algn="just"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Gli array di array si dicono </a:t>
            </a:r>
            <a:r>
              <a:rPr lang="it-IT" altLang="en-US" sz="2200" i="1" dirty="0">
                <a:solidFill>
                  <a:schemeClr val="tx1"/>
                </a:solidFill>
              </a:rPr>
              <a:t>bidimensionali</a:t>
            </a:r>
            <a:r>
              <a:rPr lang="it-IT" altLang="en-US" sz="2200" dirty="0">
                <a:solidFill>
                  <a:schemeClr val="tx1"/>
                </a:solidFill>
              </a:rPr>
              <a:t>; hanno due dimensioni e, pertanto, due indici; sono noti anche con il nome di </a:t>
            </a:r>
            <a:r>
              <a:rPr lang="it-IT" altLang="en-US" sz="2200" i="1" dirty="0">
                <a:solidFill>
                  <a:schemeClr val="tx1"/>
                </a:solidFill>
              </a:rPr>
              <a:t>tabelle</a:t>
            </a:r>
            <a:r>
              <a:rPr lang="it-IT" altLang="en-US" sz="2200" dirty="0">
                <a:solidFill>
                  <a:schemeClr val="tx1"/>
                </a:solidFill>
              </a:rPr>
              <a:t> o </a:t>
            </a:r>
            <a:r>
              <a:rPr lang="it-IT" altLang="en-US" sz="2200" i="1" dirty="0">
                <a:solidFill>
                  <a:schemeClr val="tx1"/>
                </a:solidFill>
              </a:rPr>
              <a:t>matrici</a:t>
            </a:r>
            <a:r>
              <a:rPr lang="it-IT" altLang="en-US" sz="2200" dirty="0">
                <a:solidFill>
                  <a:schemeClr val="tx1"/>
                </a:solidFill>
              </a:rPr>
              <a:t>: la sintassi per la dichiarazione è:</a:t>
            </a:r>
          </a:p>
        </p:txBody>
      </p:sp>
      <p:sp>
        <p:nvSpPr>
          <p:cNvPr id="98315" name="Text Box 11">
            <a:extLst>
              <a:ext uri="{FF2B5EF4-FFF2-40B4-BE49-F238E27FC236}">
                <a16:creationId xmlns:a16="http://schemas.microsoft.com/office/drawing/2014/main" id="{F1C17245-A67A-479C-9A72-DBB1ECC29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89138"/>
            <a:ext cx="878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i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tipo_elemento nome_array </a:t>
            </a:r>
            <a:r>
              <a:rPr lang="it-IT" b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</a:t>
            </a:r>
            <a:r>
              <a:rPr lang="it-IT" i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NumRighe</a:t>
            </a:r>
            <a:r>
              <a:rPr lang="it-IT" b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][</a:t>
            </a:r>
            <a:r>
              <a:rPr lang="it-IT" i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NumColonne</a:t>
            </a:r>
            <a:r>
              <a:rPr lang="it-IT" b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]</a:t>
            </a:r>
            <a:r>
              <a:rPr lang="it-IT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</a:p>
        </p:txBody>
      </p:sp>
      <p:sp>
        <p:nvSpPr>
          <p:cNvPr id="98316" name="Text Box 12">
            <a:extLst>
              <a:ext uri="{FF2B5EF4-FFF2-40B4-BE49-F238E27FC236}">
                <a16:creationId xmlns:a16="http://schemas.microsoft.com/office/drawing/2014/main" id="{29EC7670-19EA-49DD-A0CD-62C5B8451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00438"/>
            <a:ext cx="864076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Times New Roman" panose="02020603050405020304" pitchFamily="18" charset="0"/>
              <a:buBlip>
                <a:blip r:embed="rId3"/>
              </a:buBlip>
            </a:pPr>
            <a:r>
              <a:rPr lang="it-IT" altLang="en-US" sz="2200" dirty="0">
                <a:solidFill>
                  <a:schemeClr val="tx1"/>
                </a:solidFill>
              </a:rPr>
              <a:t> gli array di array di array sono tridimensionali e così via</a:t>
            </a:r>
          </a:p>
          <a:p>
            <a:pPr>
              <a:buSzPct val="50000"/>
              <a:buFont typeface="Times New Roman" panose="02020603050405020304" pitchFamily="18" charset="0"/>
              <a:buBlip>
                <a:blip r:embed="rId3"/>
              </a:buBlip>
            </a:pPr>
            <a:r>
              <a:rPr lang="it-IT" altLang="en-US" sz="2200" dirty="0">
                <a:solidFill>
                  <a:schemeClr val="tx1"/>
                </a:solidFill>
              </a:rPr>
              <a:t> gli array multidimensionali si inizializzano normalmente; es:</a:t>
            </a:r>
            <a:br>
              <a:rPr lang="it-IT" altLang="en-US" sz="2200" dirty="0">
                <a:solidFill>
                  <a:schemeClr val="tx1"/>
                </a:solidFill>
              </a:rPr>
            </a:b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tabella[2][3] = {{51, 52, 53}, {54, 55, 56}};</a:t>
            </a:r>
            <a:b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it-IT" altLang="en-US" sz="2200" dirty="0">
                <a:solidFill>
                  <a:schemeClr val="tx1"/>
                </a:solidFill>
              </a:rPr>
              <a:t>oppure:</a:t>
            </a:r>
            <a:br>
              <a:rPr lang="it-IT" altLang="en-US" sz="2200" dirty="0">
                <a:solidFill>
                  <a:schemeClr val="tx1"/>
                </a:solidFill>
              </a:rPr>
            </a:br>
            <a:r>
              <a:rPr lang="it-IT" altLang="en-US" sz="2200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it-IT" altLang="en-US" sz="2200" dirty="0">
                <a:solidFill>
                  <a:schemeClr val="tx1"/>
                </a:solidFill>
                <a:latin typeface="Courier New" panose="02070309020205020404" pitchFamily="49" charset="0"/>
              </a:rPr>
              <a:t> tabella[2][3] = {51, 52, 53, 54, 55, 56};</a:t>
            </a:r>
          </a:p>
        </p:txBody>
      </p:sp>
      <p:sp>
        <p:nvSpPr>
          <p:cNvPr id="98317" name="Text Box 13">
            <a:extLst>
              <a:ext uri="{FF2B5EF4-FFF2-40B4-BE49-F238E27FC236}">
                <a16:creationId xmlns:a16="http://schemas.microsoft.com/office/drawing/2014/main" id="{EFCCA70A-2FE4-4811-9297-FA61C4740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300663"/>
            <a:ext cx="8640763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SzPct val="50000"/>
              <a:buFont typeface="Times New Roman" charset="0"/>
              <a:buBlip>
                <a:blip r:embed="rId3"/>
              </a:buBlip>
              <a:defRPr/>
            </a:pPr>
            <a:r>
              <a:rPr lang="it-IT" sz="220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anche gli assegnamenti sono intuitivi:</a:t>
            </a:r>
            <a:br>
              <a:rPr lang="it-IT" sz="2200">
                <a:solidFill>
                  <a:schemeClr val="tx1"/>
                </a:solidFill>
                <a:latin typeface="Times New Roman" charset="0"/>
                <a:ea typeface="ＭＳ Ｐゴシック" charset="0"/>
              </a:rPr>
            </a:br>
            <a:r>
              <a:rPr lang="it-IT" sz="220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 x = tabella[1][0] // assegna ad x 54</a:t>
            </a:r>
            <a:br>
              <a:rPr lang="it-IT" sz="2200">
                <a:solidFill>
                  <a:schemeClr val="tx1"/>
                </a:solidFill>
                <a:latin typeface="Times New Roman" charset="0"/>
                <a:ea typeface="ＭＳ Ｐゴシック" charset="0"/>
              </a:rPr>
            </a:br>
            <a:r>
              <a:rPr lang="it-IT" sz="220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tabella[1][2] = 58; // sostituisce 58 a 55</a:t>
            </a:r>
          </a:p>
        </p:txBody>
      </p:sp>
      <p:pic>
        <p:nvPicPr>
          <p:cNvPr id="98318" name="Picture 14">
            <a:extLst>
              <a:ext uri="{FF2B5EF4-FFF2-40B4-BE49-F238E27FC236}">
                <a16:creationId xmlns:a16="http://schemas.microsoft.com/office/drawing/2014/main" id="{FC139D13-864B-4961-A481-A63A45AB2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244" y="2514716"/>
            <a:ext cx="1897856" cy="1358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8319" name="Picture 15">
            <a:extLst>
              <a:ext uri="{FF2B5EF4-FFF2-40B4-BE49-F238E27FC236}">
                <a16:creationId xmlns:a16="http://schemas.microsoft.com/office/drawing/2014/main" id="{9DBB9A14-DC37-4C6F-8B63-3C2CE0090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420938"/>
            <a:ext cx="1584325" cy="113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Array multidimensionali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56932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50000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Non si inizializzano per default (a meno che non siano globali). </a:t>
            </a:r>
          </a:p>
          <a:p>
            <a:pPr algn="just">
              <a:buSzPct val="50000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Se si inizializzano solo alcuni elementi (tipicamente) gli altri vengono inizializzati a 0.  </a:t>
            </a:r>
          </a:p>
        </p:txBody>
      </p:sp>
      <p:sp>
        <p:nvSpPr>
          <p:cNvPr id="98316" name="Text Box 12">
            <a:extLst>
              <a:ext uri="{FF2B5EF4-FFF2-40B4-BE49-F238E27FC236}">
                <a16:creationId xmlns:a16="http://schemas.microsoft.com/office/drawing/2014/main" id="{449F5A1C-CB7E-4A1A-B59B-DE2F072B8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44824"/>
            <a:ext cx="8353424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</a:p>
          <a:p>
            <a:pPr algn="ctr"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tabella[2][3] = {0}; </a:t>
            </a: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inizializza a zero tutti gli elementi della matrice con 2 righe e 3 colonne. </a:t>
            </a: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latin typeface="Times New Roman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Attenzione:</a:t>
            </a: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// OK</a:t>
            </a:r>
          </a:p>
          <a:p>
            <a:pPr>
              <a:buSzPct val="50000"/>
              <a:defRPr/>
            </a:pP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tabella[][5] = {1,2,3,4,5,6,7,8,9,10}; </a:t>
            </a: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latin typeface="Courier New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// ERRORE!!!</a:t>
            </a:r>
          </a:p>
          <a:p>
            <a:pPr>
              <a:buSzPct val="50000"/>
              <a:defRPr/>
            </a:pP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tabella[][] = {1,2,3,4,5,6,7,8,9,10}; </a:t>
            </a: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783CB4EE-0A60-4B6D-B37E-2D9E0A024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7561262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>
                <a:latin typeface="Bitstream Charter" charset="0"/>
                <a:ea typeface="+mj-ea"/>
                <a:cs typeface="+mj-cs"/>
              </a:rPr>
              <a:t>passaggio di array come argomenti</a:t>
            </a:r>
            <a:endParaRPr lang="it-IT" sz="360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100359" name="Text Box 7">
            <a:extLst>
              <a:ext uri="{FF2B5EF4-FFF2-40B4-BE49-F238E27FC236}">
                <a16:creationId xmlns:a16="http://schemas.microsoft.com/office/drawing/2014/main" id="{7A99B58C-9F8B-420D-B3BC-988F4FC89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785225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b="1" i="1">
                <a:solidFill>
                  <a:schemeClr val="tx1"/>
                </a:solidFill>
              </a:rPr>
              <a:t>gli arrays si passano per riferimento</a:t>
            </a:r>
            <a:r>
              <a:rPr lang="it-IT" altLang="en-US" sz="220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>
                <a:solidFill>
                  <a:schemeClr val="tx1"/>
                </a:solidFill>
              </a:rPr>
              <a:t>quando si passa un array come parametro ad una funzione C++ tratta la chiamata come se vi fosse l</a:t>
            </a:r>
            <a:r>
              <a:rPr lang="it-IT" altLang="it-IT" sz="2200">
                <a:solidFill>
                  <a:schemeClr val="tx1"/>
                </a:solidFill>
              </a:rPr>
              <a:t>’</a:t>
            </a:r>
            <a:r>
              <a:rPr lang="it-IT" altLang="en-US" sz="2200">
                <a:solidFill>
                  <a:schemeClr val="tx1"/>
                </a:solidFill>
              </a:rPr>
              <a:t>operatore di indirizzo &amp; davanti al nome del vettore </a:t>
            </a:r>
            <a:r>
              <a:rPr lang="it-IT" altLang="en-US" sz="200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00361" name="Picture 9">
            <a:extLst>
              <a:ext uri="{FF2B5EF4-FFF2-40B4-BE49-F238E27FC236}">
                <a16:creationId xmlns:a16="http://schemas.microsoft.com/office/drawing/2014/main" id="{1AEADDAD-FE4B-49DD-8038-DD763C11A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060575"/>
            <a:ext cx="4949825" cy="251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0362" name="Text Box 10">
            <a:extLst>
              <a:ext uri="{FF2B5EF4-FFF2-40B4-BE49-F238E27FC236}">
                <a16:creationId xmlns:a16="http://schemas.microsoft.com/office/drawing/2014/main" id="{F1E5B001-492D-45D7-834E-DFDE195EF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581525"/>
            <a:ext cx="8569325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0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il 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4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nel </a:t>
            </a: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char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[4]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della figura precedente può essere omesso, </a:t>
            </a:r>
          </a:p>
          <a:p>
            <a:pPr marL="800100" lvl="1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Se si passano array multidimensionali gli altri indici devono essere specificati; </a:t>
            </a:r>
          </a:p>
          <a:p>
            <a:pPr marL="800100" lvl="1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Es: se c[] fosse stato una matrice l'intestazione della funzione sarebbe stata:   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cambiare(</a:t>
            </a: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char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c[][4]) </a:t>
            </a:r>
            <a:r>
              <a:rPr lang="it-IT" sz="20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12EAE40-00C4-465E-82F8-BEC27AFB9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7561262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>
                <a:latin typeface="Bitstream Charter" charset="0"/>
                <a:ea typeface="+mj-ea"/>
                <a:cs typeface="+mj-cs"/>
              </a:rPr>
              <a:t>passaggio di array come argomenti</a:t>
            </a:r>
            <a:endParaRPr lang="it-IT" sz="360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100359" name="Text Box 7">
            <a:extLst>
              <a:ext uri="{FF2B5EF4-FFF2-40B4-BE49-F238E27FC236}">
                <a16:creationId xmlns:a16="http://schemas.microsoft.com/office/drawing/2014/main" id="{16CCDC66-7545-4D80-8756-DA0570277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785225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b="1" i="1">
                <a:solidFill>
                  <a:schemeClr val="tx1"/>
                </a:solidFill>
              </a:rPr>
              <a:t>gli arrays si passano per riferimento</a:t>
            </a:r>
            <a:r>
              <a:rPr lang="it-IT" altLang="en-US" sz="220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>
                <a:solidFill>
                  <a:schemeClr val="tx1"/>
                </a:solidFill>
              </a:rPr>
              <a:t>quando si passa un array come parametro ad una funzione C++ tratta la chiamata come se vi fosse l</a:t>
            </a:r>
            <a:r>
              <a:rPr lang="it-IT" altLang="it-IT" sz="2200">
                <a:solidFill>
                  <a:schemeClr val="tx1"/>
                </a:solidFill>
              </a:rPr>
              <a:t>’</a:t>
            </a:r>
            <a:r>
              <a:rPr lang="it-IT" altLang="en-US" sz="2200">
                <a:solidFill>
                  <a:schemeClr val="tx1"/>
                </a:solidFill>
              </a:rPr>
              <a:t>operatore di indirizzo &amp; davanti al nome del vettore </a:t>
            </a:r>
            <a:r>
              <a:rPr lang="it-IT" altLang="en-US" sz="200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00361" name="Picture 9">
            <a:extLst>
              <a:ext uri="{FF2B5EF4-FFF2-40B4-BE49-F238E27FC236}">
                <a16:creationId xmlns:a16="http://schemas.microsoft.com/office/drawing/2014/main" id="{9B56B080-95DE-46B9-9BEB-B53B0D0EB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060575"/>
            <a:ext cx="4949825" cy="251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0362" name="Text Box 10">
            <a:extLst>
              <a:ext uri="{FF2B5EF4-FFF2-40B4-BE49-F238E27FC236}">
                <a16:creationId xmlns:a16="http://schemas.microsoft.com/office/drawing/2014/main" id="{3F13317A-F752-4452-83E3-0CC708384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581525"/>
            <a:ext cx="8569325" cy="144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il 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4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nel </a:t>
            </a: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char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[4]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della figura precedente può essere omesso.</a:t>
            </a:r>
          </a:p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Passare un vettore significa passare 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solo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il suo indirizzo. </a:t>
            </a:r>
          </a:p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Se la funzione deve conoscere la dimensione del vettore, questa può essere passata come (secondo) parametro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569324" cy="1079500"/>
          </a:xfrm>
        </p:spPr>
        <p:txBody>
          <a:bodyPr lIns="0" tIns="0" rIns="0" bIns="0">
            <a:normAutofit/>
          </a:bodyPr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Passaggio di array come parametro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56932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buSzPct val="50000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Nel passaggio di un array come parametro di una funzione bisogna tenere a mente che </a:t>
            </a:r>
            <a:r>
              <a:rPr lang="it-IT" sz="2200" b="1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il nome dell’array è un puntatore al primo elemento dell’array.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 </a:t>
            </a:r>
          </a:p>
        </p:txBody>
      </p:sp>
      <p:sp>
        <p:nvSpPr>
          <p:cNvPr id="98316" name="Text Box 12">
            <a:extLst>
              <a:ext uri="{FF2B5EF4-FFF2-40B4-BE49-F238E27FC236}">
                <a16:creationId xmlns:a16="http://schemas.microsoft.com/office/drawing/2014/main" id="{449F5A1C-CB7E-4A1A-B59B-DE2F072B8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44824"/>
            <a:ext cx="856932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</a:t>
            </a: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[10]; </a:t>
            </a: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 err="1">
                <a:latin typeface="Courier New" charset="0"/>
                <a:ea typeface="ＭＳ Ｐゴシック" charset="0"/>
              </a:rPr>
              <a:t>int</a:t>
            </a:r>
            <a:r>
              <a:rPr lang="it-IT" sz="2200" dirty="0">
                <a:latin typeface="Courier New" charset="0"/>
                <a:ea typeface="ＭＳ Ｐゴシック" charset="0"/>
              </a:rPr>
              <a:t> *p;</a:t>
            </a: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 = </a:t>
            </a:r>
            <a:r>
              <a:rPr lang="it-IT" sz="22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</a:t>
            </a:r>
            <a:r>
              <a:rPr lang="it-IT" sz="2200" dirty="0">
                <a:latin typeface="Courier New" charset="0"/>
                <a:ea typeface="ＭＳ Ｐゴシック" charset="0"/>
              </a:rPr>
              <a:t>;</a:t>
            </a:r>
            <a:endParaRPr lang="it-IT" sz="22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Possiamo dire che:</a:t>
            </a:r>
          </a:p>
          <a:p>
            <a:pPr marL="342900" indent="-342900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latin typeface="Times New Roman" charset="0"/>
                <a:ea typeface="ＭＳ Ｐゴシック" charset="0"/>
              </a:rPr>
              <a:t>Sia 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p </a:t>
            </a:r>
            <a:r>
              <a:rPr lang="it-IT" sz="2200" dirty="0">
                <a:latin typeface="Times New Roman" charset="0"/>
                <a:ea typeface="ＭＳ Ｐゴシック" charset="0"/>
              </a:rPr>
              <a:t>che </a:t>
            </a:r>
            <a:r>
              <a:rPr lang="it-IT" sz="2200" i="1" dirty="0" err="1">
                <a:latin typeface="Times New Roman" charset="0"/>
                <a:ea typeface="ＭＳ Ｐゴシック" charset="0"/>
              </a:rPr>
              <a:t>num</a:t>
            </a:r>
            <a:r>
              <a:rPr lang="it-IT" sz="2200" dirty="0">
                <a:latin typeface="Times New Roman" charset="0"/>
                <a:ea typeface="ＭＳ Ｐゴシック" charset="0"/>
              </a:rPr>
              <a:t> sono puntatori di </a:t>
            </a:r>
            <a:r>
              <a:rPr lang="it-IT" sz="2200" i="1" dirty="0" err="1"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[0]</a:t>
            </a:r>
            <a:r>
              <a:rPr lang="it-IT" sz="2200" dirty="0">
                <a:latin typeface="Times New Roman" charset="0"/>
                <a:ea typeface="ＭＳ Ｐゴシック" charset="0"/>
              </a:rPr>
              <a:t>.</a:t>
            </a:r>
          </a:p>
          <a:p>
            <a:pPr marL="342900" indent="-342900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sz="2200" i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num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e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&amp;</a:t>
            </a:r>
            <a:r>
              <a:rPr lang="it-IT" sz="2200" i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[0]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sono la stessa cosa.</a:t>
            </a:r>
          </a:p>
          <a:p>
            <a:pPr marL="342900" indent="-342900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sz="2200" i="1" dirty="0" err="1"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[0] </a:t>
            </a:r>
            <a:r>
              <a:rPr lang="it-IT" sz="2200" dirty="0">
                <a:latin typeface="Times New Roman" charset="0"/>
                <a:ea typeface="ＭＳ Ｐゴシック" charset="0"/>
              </a:rPr>
              <a:t>e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 *</a:t>
            </a:r>
            <a:r>
              <a:rPr lang="it-IT" sz="2200" i="1" dirty="0" err="1"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 </a:t>
            </a:r>
            <a:r>
              <a:rPr lang="it-IT" sz="2200" dirty="0">
                <a:latin typeface="Times New Roman" charset="0"/>
                <a:ea typeface="ＭＳ Ｐゴシック" charset="0"/>
              </a:rPr>
              <a:t>sono la stessa cosa.</a:t>
            </a:r>
          </a:p>
          <a:p>
            <a:pPr marL="342900" indent="-342900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sz="2200" i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[1]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e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*(</a:t>
            </a:r>
            <a:r>
              <a:rPr lang="it-IT" sz="2200" i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+ 1)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sono la stessa cosa.</a:t>
            </a:r>
          </a:p>
          <a:p>
            <a:pPr marL="342900" indent="-342900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sz="2200" i="1" dirty="0">
                <a:latin typeface="Times New Roman" charset="0"/>
                <a:ea typeface="ＭＳ Ｐゴシック" charset="0"/>
              </a:rPr>
              <a:t>x[n]</a:t>
            </a:r>
            <a:r>
              <a:rPr lang="it-IT" sz="2200" dirty="0">
                <a:latin typeface="Times New Roman" charset="0"/>
                <a:ea typeface="ＭＳ Ｐゴシック" charset="0"/>
              </a:rPr>
              <a:t> e 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*(</a:t>
            </a:r>
            <a:r>
              <a:rPr lang="it-IT" sz="2200" i="1" dirty="0" err="1">
                <a:latin typeface="Times New Roman" charset="0"/>
                <a:ea typeface="ＭＳ Ｐゴシック" charset="0"/>
              </a:rPr>
              <a:t>num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 + n)</a:t>
            </a:r>
            <a:r>
              <a:rPr lang="it-IT" sz="2200" dirty="0">
                <a:latin typeface="Times New Roman" charset="0"/>
                <a:ea typeface="ＭＳ Ｐゴシック" charset="0"/>
              </a:rPr>
              <a:t> sono la stessa cosa (n è un intero)</a:t>
            </a:r>
            <a:r>
              <a:rPr lang="it-IT" sz="2200" i="1" dirty="0">
                <a:latin typeface="Times New Roman" charset="0"/>
                <a:ea typeface="ＭＳ Ｐゴシック" charset="0"/>
              </a:rPr>
              <a:t>.</a:t>
            </a:r>
            <a:endParaRPr lang="it-IT" sz="2200" i="1" dirty="0">
              <a:solidFill>
                <a:schemeClr val="tx1"/>
              </a:solidFill>
              <a:latin typeface="Times New Roman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solidFill>
                <a:schemeClr val="tx1"/>
              </a:solidFill>
              <a:latin typeface="Times New Roman" charset="0"/>
              <a:ea typeface="ＭＳ Ｐゴシック" charset="0"/>
            </a:endParaRPr>
          </a:p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latin typeface="Times New Roman" charset="0"/>
                <a:ea typeface="ＭＳ Ｐゴシック" charset="0"/>
              </a:rPr>
              <a:t>Per questo motivo il passaggio di un array nelle funzioni avviene sempre per indirizzo.</a:t>
            </a:r>
            <a:endParaRPr lang="it-IT" sz="22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7736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2B2754-7B60-4C53-97C0-AF53C88E7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74638"/>
            <a:ext cx="8588375" cy="1143000"/>
          </a:xfrm>
        </p:spPr>
        <p:txBody>
          <a:bodyPr>
            <a:normAutofit fontScale="90000"/>
          </a:bodyPr>
          <a:lstStyle/>
          <a:p>
            <a:pPr>
              <a:buFont typeface="Arial" charset="0"/>
              <a:buNone/>
              <a:defRPr/>
            </a:pPr>
            <a:r>
              <a:rPr lang="it-IT" dirty="0">
                <a:ea typeface="+mj-ea"/>
              </a:rPr>
              <a:t>Esempio: Segmenti di Somma Massima</a:t>
            </a:r>
            <a:br>
              <a:rPr lang="it-IT" dirty="0">
                <a:ea typeface="+mj-ea"/>
              </a:rPr>
            </a:br>
            <a:endParaRPr lang="it-IT" dirty="0">
              <a:ea typeface="+mj-ea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43853-E879-461B-B114-421B78325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altLang="en-US" dirty="0"/>
              <a:t>Segmento: sequenza di elementi consecutivi in un array </a:t>
            </a:r>
            <a:r>
              <a:rPr lang="it-IT" altLang="en-US" dirty="0">
                <a:solidFill>
                  <a:srgbClr val="FF0000"/>
                </a:solidFill>
              </a:rPr>
              <a:t>a</a:t>
            </a:r>
            <a:r>
              <a:rPr lang="it-IT" altLang="en-US" dirty="0"/>
              <a:t> </a:t>
            </a:r>
          </a:p>
          <a:p>
            <a:pPr lvl="1"/>
            <a:r>
              <a:rPr lang="it-IT" altLang="en-US" dirty="0"/>
              <a:t>a array di n interi </a:t>
            </a:r>
          </a:p>
          <a:p>
            <a:pPr lvl="1"/>
            <a:r>
              <a:rPr lang="it-IT" altLang="en-US" dirty="0"/>
              <a:t>a[</a:t>
            </a:r>
            <a:r>
              <a:rPr lang="it-IT" altLang="en-US" dirty="0" err="1"/>
              <a:t>i,j</a:t>
            </a:r>
            <a:r>
              <a:rPr lang="it-IT" altLang="en-US" dirty="0"/>
              <a:t>] segmento se 0 ≤ i ≤ j ≤ n-1 </a:t>
            </a:r>
          </a:p>
          <a:p>
            <a:r>
              <a:rPr lang="it-IT" altLang="en-US" dirty="0"/>
              <a:t>Determinare il segmento di somma massima </a:t>
            </a:r>
          </a:p>
          <a:p>
            <a:pPr lvl="1"/>
            <a:r>
              <a:rPr lang="it-IT" altLang="en-US" dirty="0"/>
              <a:t>Banale se gli elementi sono tutti positivi (o tutti negativi)</a:t>
            </a:r>
          </a:p>
          <a:p>
            <a:pPr lvl="1"/>
            <a:r>
              <a:rPr lang="it-IT" altLang="en-US" dirty="0"/>
              <a:t>A parità di somma si predilige il segmento più corto</a:t>
            </a:r>
          </a:p>
          <a:p>
            <a:pPr lvl="1">
              <a:buFont typeface="Arial" panose="020B0604020202020204" pitchFamily="34" charset="0"/>
              <a:buNone/>
            </a:pPr>
            <a:endParaRPr lang="it-IT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86F158F-830F-4F07-8B7A-C0592E1C9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6985000" cy="1079500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latin typeface="Bitstream Charter" charset="0"/>
                <a:ea typeface="+mj-ea"/>
                <a:cs typeface="+mj-cs"/>
              </a:rPr>
              <a:t>Esercizi</a:t>
            </a:r>
            <a:endParaRPr lang="it-IT" sz="400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DBCF2E26-DFFE-409B-8EF8-71EB14CA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0" y="1045065"/>
            <a:ext cx="885698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algn="just">
              <a:buSzPct val="100000"/>
              <a:buFont typeface="+mj-lt"/>
              <a:buAutoNum type="arabicPeriod"/>
              <a:defRPr/>
            </a:pPr>
            <a:r>
              <a:rPr lang="it-IT" dirty="0">
                <a:latin typeface="+mj-lt"/>
                <a:ea typeface="ＭＳ Ｐゴシック" charset="0"/>
              </a:rPr>
              <a:t>Scrivere un programma che sfrutta un metodo ‘</a:t>
            </a:r>
            <a:r>
              <a:rPr lang="it-IT" dirty="0" err="1">
                <a:latin typeface="+mj-lt"/>
                <a:ea typeface="ＭＳ Ｐゴシック" charset="0"/>
              </a:rPr>
              <a:t>leggiElementi</a:t>
            </a:r>
            <a:r>
              <a:rPr lang="it-IT" dirty="0">
                <a:latin typeface="+mj-lt"/>
                <a:ea typeface="ＭＳ Ｐゴシック" charset="0"/>
              </a:rPr>
              <a:t>()’ per inizializzare un array di double di dimensione non nota, chiedendo all’utente di inserire un valore per volta fino a quando non viene inserito il valore zero. Successivamente, stampare gli elementi mediante un altro metodo ‘</a:t>
            </a:r>
            <a:r>
              <a:rPr lang="it-IT" dirty="0" err="1">
                <a:latin typeface="+mj-lt"/>
                <a:ea typeface="ＭＳ Ｐゴシック" charset="0"/>
              </a:rPr>
              <a:t>stampaElementi</a:t>
            </a:r>
            <a:r>
              <a:rPr lang="it-IT" dirty="0">
                <a:latin typeface="+mj-lt"/>
                <a:ea typeface="ＭＳ Ｐゴシック" charset="0"/>
              </a:rPr>
              <a:t>()’</a:t>
            </a: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endParaRPr lang="it-IT" dirty="0">
              <a:latin typeface="+mj-lt"/>
              <a:ea typeface="ＭＳ Ｐゴシック" charset="0"/>
            </a:endParaRP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r>
              <a:rPr lang="it-IT" dirty="0">
                <a:latin typeface="+mj-lt"/>
                <a:ea typeface="ＭＳ Ｐゴシック" charset="0"/>
              </a:rPr>
              <a:t>Definire più metodi per stampare </a:t>
            </a:r>
            <a:r>
              <a:rPr lang="it-IT">
                <a:latin typeface="+mj-lt"/>
                <a:ea typeface="ＭＳ Ｐゴシック" charset="0"/>
              </a:rPr>
              <a:t>i numeri primi &lt;=n, </a:t>
            </a:r>
            <a:r>
              <a:rPr lang="it-IT" dirty="0">
                <a:latin typeface="+mj-lt"/>
                <a:ea typeface="ＭＳ Ｐゴシック" charset="0"/>
              </a:rPr>
              <a:t>e valutare il loro tempo di esecuzione per valori di n crescenti.</a:t>
            </a: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endParaRPr lang="it-IT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r>
              <a:rPr lang="it-IT" dirty="0">
                <a:solidFill>
                  <a:schemeClr val="tx1"/>
                </a:solidFill>
                <a:latin typeface="+mj-lt"/>
                <a:ea typeface="ＭＳ Ｐゴシック" charset="0"/>
              </a:rPr>
              <a:t>Scrivere un programma che legga una frase, sostituisca tutte le sequenze di uno o due spazi con uno spazio singolo e visualizzi la frase risultante.</a:t>
            </a: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endParaRPr lang="it-IT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r>
              <a:rPr lang="it-IT" dirty="0">
                <a:solidFill>
                  <a:schemeClr val="tx1"/>
                </a:solidFill>
                <a:latin typeface="+mj-lt"/>
                <a:ea typeface="ＭＳ Ｐゴシック" charset="0"/>
              </a:rPr>
              <a:t>Scrivere un programma che inizializza solo i primi due elementi di un vettore di 4 e visualizzi il valore degli elementi non assegnati.</a:t>
            </a: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endParaRPr lang="it-IT" dirty="0">
              <a:latin typeface="+mj-lt"/>
              <a:ea typeface="ＭＳ Ｐゴシック" charset="0"/>
            </a:endParaRP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r>
              <a:rPr lang="it-IT" dirty="0">
                <a:solidFill>
                  <a:schemeClr val="tx1"/>
                </a:solidFill>
                <a:latin typeface="+mj-lt"/>
                <a:ea typeface="ＭＳ Ｐゴシック" charset="0"/>
              </a:rPr>
              <a:t>Scrivere una funzione di conversione che riceva come parametro una stringa rappresentante una data in formato gg/mm/aa e la restituisca nel formato testuale, es: 17/11/91 --&gt; 17 novembre 1991</a:t>
            </a: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endParaRPr lang="it-IT" dirty="0">
              <a:latin typeface="+mj-lt"/>
              <a:ea typeface="ＭＳ Ｐゴシック" charset="0"/>
            </a:endParaRPr>
          </a:p>
          <a:p>
            <a:pPr marL="457200" indent="-457200" algn="just">
              <a:buSzPct val="100000"/>
              <a:buFont typeface="+mj-lt"/>
              <a:buAutoNum type="arabicPeriod"/>
              <a:defRPr/>
            </a:pPr>
            <a:r>
              <a:rPr lang="it-IT" dirty="0">
                <a:solidFill>
                  <a:schemeClr val="tx1"/>
                </a:solidFill>
                <a:latin typeface="+mj-lt"/>
                <a:ea typeface="ＭＳ Ｐゴシック" charset="0"/>
              </a:rPr>
              <a:t>Definire un programma che visualizzi il triangolo di Pascal</a:t>
            </a:r>
          </a:p>
        </p:txBody>
      </p:sp>
    </p:spTree>
    <p:extLst>
      <p:ext uri="{BB962C8B-B14F-4D97-AF65-F5344CB8AC3E}">
        <p14:creationId xmlns:p14="http://schemas.microsoft.com/office/powerpoint/2010/main" val="5313867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D043EA-FE99-420C-B050-692495112081}"/>
</file>

<file path=customXml/itemProps2.xml><?xml version="1.0" encoding="utf-8"?>
<ds:datastoreItem xmlns:ds="http://schemas.openxmlformats.org/officeDocument/2006/customXml" ds:itemID="{981E9C01-3479-4901-A81B-50E78BBA6FBD}"/>
</file>

<file path=customXml/itemProps3.xml><?xml version="1.0" encoding="utf-8"?>
<ds:datastoreItem xmlns:ds="http://schemas.openxmlformats.org/officeDocument/2006/customXml" ds:itemID="{AED5671D-1638-4A42-AF88-5605249B0588}"/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2331</Words>
  <Application>Microsoft Office PowerPoint</Application>
  <PresentationFormat>Presentazione su schermo (4:3)</PresentationFormat>
  <Paragraphs>242</Paragraphs>
  <Slides>23</Slides>
  <Notes>22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Arial</vt:lpstr>
      <vt:lpstr>Bitstream Charter</vt:lpstr>
      <vt:lpstr>Calibri</vt:lpstr>
      <vt:lpstr>Courier</vt:lpstr>
      <vt:lpstr>Courier New</vt:lpstr>
      <vt:lpstr>Times New Roman</vt:lpstr>
      <vt:lpstr>Tema di Office</vt:lpstr>
      <vt:lpstr>Gli Array in C++ Massimo Orazio Spata   massimo.spata@unict.it www.dmi.unict.it/spata/</vt:lpstr>
      <vt:lpstr>Gli Array</vt:lpstr>
      <vt:lpstr>Definizione di array</vt:lpstr>
      <vt:lpstr>Accesso agli elementi di un array</vt:lpstr>
      <vt:lpstr>Allocamento in memoria di un array</vt:lpstr>
      <vt:lpstr>Verifica dell’indice di un array</vt:lpstr>
      <vt:lpstr>Verifica dell’indice di un array</vt:lpstr>
      <vt:lpstr>Inizializzazione di un array</vt:lpstr>
      <vt:lpstr>Inizializzazione di un array</vt:lpstr>
      <vt:lpstr>Inizializzazione di un array</vt:lpstr>
      <vt:lpstr>Inizializzazione di un array</vt:lpstr>
      <vt:lpstr>Inizializzazione di un array</vt:lpstr>
      <vt:lpstr>Array di caratteri e stringhe </vt:lpstr>
      <vt:lpstr>Array di caratteri e stringhe </vt:lpstr>
      <vt:lpstr>Array di caratteri e stringhe </vt:lpstr>
      <vt:lpstr>Array di caratteri e stringhe: note </vt:lpstr>
      <vt:lpstr>Array multidimensionali</vt:lpstr>
      <vt:lpstr>Array multidimensionali</vt:lpstr>
      <vt:lpstr>passaggio di array come argomenti</vt:lpstr>
      <vt:lpstr>passaggio di array come argomenti</vt:lpstr>
      <vt:lpstr>Passaggio di array come parametro</vt:lpstr>
      <vt:lpstr>Esempio: Segmenti di Somma Massima </vt:lpstr>
      <vt:lpstr>Esercizi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735</cp:revision>
  <dcterms:created xsi:type="dcterms:W3CDTF">2012-01-04T08:06:02Z</dcterms:created>
  <dcterms:modified xsi:type="dcterms:W3CDTF">2023-03-23T12:44:11Z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