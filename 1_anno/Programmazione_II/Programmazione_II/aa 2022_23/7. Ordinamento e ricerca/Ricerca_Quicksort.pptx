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7" r:id="rId1"/>
  </p:sldMasterIdLst>
  <p:notesMasterIdLst>
    <p:notesMasterId r:id="rId12"/>
  </p:notesMasterIdLst>
  <p:sldIdLst>
    <p:sldId id="286" r:id="rId2"/>
    <p:sldId id="257" r:id="rId3"/>
    <p:sldId id="258" r:id="rId4"/>
    <p:sldId id="259" r:id="rId5"/>
    <p:sldId id="266" r:id="rId6"/>
    <p:sldId id="267" r:id="rId7"/>
    <p:sldId id="268" r:id="rId8"/>
    <p:sldId id="318" r:id="rId9"/>
    <p:sldId id="368" r:id="rId10"/>
    <p:sldId id="371" r:id="rId11"/>
  </p:sldIdLst>
  <p:sldSz cx="9144000" cy="6858000" type="screen4x3"/>
  <p:notesSz cx="6858000" cy="91900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78648" autoAdjust="0"/>
  </p:normalViewPr>
  <p:slideViewPr>
    <p:cSldViewPr showGuides="1">
      <p:cViewPr varScale="1">
        <p:scale>
          <a:sx n="89" d="100"/>
          <a:sy n="89" d="100"/>
        </p:scale>
        <p:origin x="2244"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3888" y="60"/>
      </p:cViewPr>
      <p:guideLst/>
    </p:cSldViewPr>
  </p:notes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it-IT" sz="4400" b="0" strike="noStrike" spc="-1">
                <a:latin typeface="Arial"/>
              </a:rPr>
              <a:t>Fai clic per spostare la diapositiva</a:t>
            </a:r>
          </a:p>
        </p:txBody>
      </p:sp>
      <p:sp>
        <p:nvSpPr>
          <p:cNvPr id="13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it-IT" sz="2000" b="0" strike="noStrike" spc="-1">
                <a:latin typeface="Arial"/>
              </a:rPr>
              <a:t>Fai clic per modificare il formato delle note</a:t>
            </a:r>
          </a:p>
        </p:txBody>
      </p:sp>
      <p:sp>
        <p:nvSpPr>
          <p:cNvPr id="141" name="PlaceHolder 5"/>
          <p:cNvSpPr>
            <a:spLocks noGrp="1"/>
          </p:cNvSpPr>
          <p:nvPr>
            <p:ph type="ftr"/>
          </p:nvPr>
        </p:nvSpPr>
        <p:spPr>
          <a:xfrm>
            <a:off x="0" y="10157400"/>
            <a:ext cx="3280680" cy="534240"/>
          </a:xfrm>
          <a:prstGeom prst="rect">
            <a:avLst/>
          </a:prstGeom>
          <a:noFill/>
          <a:ln w="0">
            <a:noFill/>
          </a:ln>
        </p:spPr>
        <p:txBody>
          <a:bodyPr lIns="0" tIns="0" rIns="0" bIns="0" anchor="b">
            <a:noAutofit/>
          </a:bodyPr>
          <a:lstStyle/>
          <a:p>
            <a:r>
              <a:rPr lang="it-IT" sz="1400" b="0" strike="noStrike" spc="-1">
                <a:latin typeface="Times New Roman"/>
              </a:rPr>
              <a:t>&lt;piè di pagina&gt;</a:t>
            </a:r>
          </a:p>
        </p:txBody>
      </p:sp>
      <p:sp>
        <p:nvSpPr>
          <p:cNvPr id="142" name="PlaceHolder 6"/>
          <p:cNvSpPr>
            <a:spLocks noGrp="1"/>
          </p:cNvSpPr>
          <p:nvPr>
            <p:ph type="sldNum"/>
          </p:nvPr>
        </p:nvSpPr>
        <p:spPr>
          <a:xfrm>
            <a:off x="4278960" y="10157400"/>
            <a:ext cx="3280680" cy="534240"/>
          </a:xfrm>
          <a:prstGeom prst="rect">
            <a:avLst/>
          </a:prstGeom>
          <a:noFill/>
          <a:ln w="0">
            <a:noFill/>
          </a:ln>
        </p:spPr>
        <p:txBody>
          <a:bodyPr lIns="0" tIns="0" rIns="0" bIns="0" anchor="b">
            <a:noAutofit/>
          </a:bodyPr>
          <a:lstStyle/>
          <a:p>
            <a:pPr algn="r"/>
            <a:fld id="{AE8F551D-B424-4CDB-9B44-C0E9C7D4B3D3}" type="slidenum">
              <a:rPr lang="it-IT" sz="1400" b="0" strike="noStrike" spc="-1">
                <a:latin typeface="Times New Roman"/>
              </a:rPr>
              <a:t>‹N›</a:t>
            </a:fld>
            <a:endParaRPr lang="it-IT"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Shape 1"/>
          <p:cNvSpPr txBox="1"/>
          <p:nvPr/>
        </p:nvSpPr>
        <p:spPr>
          <a:xfrm>
            <a:off x="3886200" y="8731080"/>
            <a:ext cx="2971440" cy="458280"/>
          </a:xfrm>
          <a:prstGeom prst="rect">
            <a:avLst/>
          </a:prstGeom>
          <a:noFill/>
          <a:ln>
            <a:noFill/>
          </a:ln>
        </p:spPr>
        <p:txBody>
          <a:bodyPr anchor="b">
            <a:noAutofit/>
          </a:bodyPr>
          <a:lstStyle/>
          <a:p>
            <a:pPr algn="r">
              <a:lnSpc>
                <a:spcPct val="100000"/>
              </a:lnSpc>
            </a:pPr>
            <a:fld id="{691A6927-7EC0-4837-8C9E-FE19125D3E56}" type="slidenum">
              <a:rPr lang="en-US" sz="1200" b="0" strike="noStrike" spc="-1">
                <a:solidFill>
                  <a:srgbClr val="000000"/>
                </a:solidFill>
                <a:latin typeface="Times New Roman"/>
              </a:rPr>
              <a:t>1</a:t>
            </a:fld>
            <a:endParaRPr lang="it-IT" sz="1200" b="0" strike="noStrike" spc="-1">
              <a:latin typeface="Times New Roman"/>
            </a:endParaRPr>
          </a:p>
        </p:txBody>
      </p:sp>
      <p:sp>
        <p:nvSpPr>
          <p:cNvPr id="168" name="PlaceHolder 2"/>
          <p:cNvSpPr>
            <a:spLocks noGrp="1" noRot="1" noChangeAspect="1"/>
          </p:cNvSpPr>
          <p:nvPr>
            <p:ph type="sldImg"/>
          </p:nvPr>
        </p:nvSpPr>
        <p:spPr>
          <a:xfrm>
            <a:off x="1131888" y="688975"/>
            <a:ext cx="4594225" cy="3446463"/>
          </a:xfrm>
          <a:prstGeom prst="rect">
            <a:avLst/>
          </a:prstGeom>
        </p:spPr>
      </p:sp>
      <p:sp>
        <p:nvSpPr>
          <p:cNvPr id="169" name="PlaceHolder 3"/>
          <p:cNvSpPr>
            <a:spLocks noGrp="1"/>
          </p:cNvSpPr>
          <p:nvPr>
            <p:ph type="body"/>
          </p:nvPr>
        </p:nvSpPr>
        <p:spPr>
          <a:xfrm>
            <a:off x="914400" y="4365720"/>
            <a:ext cx="5028840" cy="4134960"/>
          </a:xfrm>
          <a:prstGeom prst="rect">
            <a:avLst/>
          </a:prstGeom>
        </p:spPr>
        <p:txBody>
          <a:bodyPr>
            <a:noAutofit/>
          </a:bodyPr>
          <a:lstStyle/>
          <a:p>
            <a:endParaRPr lang="it-IT" sz="2000" b="0" strike="noStrike" spc="-1">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08075" y="812800"/>
            <a:ext cx="5343525" cy="4008438"/>
          </a:xfrm>
        </p:spPr>
      </p:sp>
      <p:sp>
        <p:nvSpPr>
          <p:cNvPr id="3" name="Segnaposto note 2"/>
          <p:cNvSpPr>
            <a:spLocks noGrp="1"/>
          </p:cNvSpPr>
          <p:nvPr>
            <p:ph type="body" idx="1"/>
          </p:nvPr>
        </p:nvSpPr>
        <p:spPr/>
        <p:txBody>
          <a:bodyPr/>
          <a:lstStyle/>
          <a:p>
            <a:pPr algn="l" fontAlgn="base"/>
            <a:r>
              <a:rPr lang="it-IT" b="0" i="0" dirty="0">
                <a:solidFill>
                  <a:srgbClr val="2C45A3"/>
                </a:solidFill>
                <a:effectLst/>
                <a:latin typeface="Roboto Slab"/>
              </a:rPr>
              <a:t>Ricerca binaria</a:t>
            </a:r>
          </a:p>
          <a:p>
            <a:pPr algn="l" fontAlgn="base"/>
            <a:r>
              <a:rPr lang="it-IT" b="0" i="0" dirty="0">
                <a:solidFill>
                  <a:srgbClr val="444444"/>
                </a:solidFill>
                <a:effectLst/>
                <a:latin typeface="Raleway" pitchFamily="2" charset="0"/>
              </a:rPr>
              <a:t>L’algoritmo di </a:t>
            </a:r>
            <a:r>
              <a:rPr lang="it-IT" b="1" i="0" dirty="0">
                <a:solidFill>
                  <a:srgbClr val="444444"/>
                </a:solidFill>
                <a:effectLst/>
                <a:latin typeface="inherit"/>
              </a:rPr>
              <a:t>ricerca binaria</a:t>
            </a:r>
            <a:r>
              <a:rPr lang="it-IT" b="0" i="0" dirty="0">
                <a:solidFill>
                  <a:srgbClr val="444444"/>
                </a:solidFill>
                <a:effectLst/>
                <a:latin typeface="Raleway" pitchFamily="2" charset="0"/>
              </a:rPr>
              <a:t> o </a:t>
            </a:r>
            <a:r>
              <a:rPr lang="it-IT" b="1" i="0" dirty="0">
                <a:solidFill>
                  <a:srgbClr val="444444"/>
                </a:solidFill>
                <a:effectLst/>
                <a:latin typeface="inherit"/>
              </a:rPr>
              <a:t>dicotomica </a:t>
            </a:r>
            <a:r>
              <a:rPr lang="it-IT" b="0" i="0" dirty="0">
                <a:solidFill>
                  <a:srgbClr val="444444"/>
                </a:solidFill>
                <a:effectLst/>
                <a:latin typeface="Raleway" pitchFamily="2" charset="0"/>
              </a:rPr>
              <a:t>è un algoritmo che viene utilizzato per trovare elementi in un array ordinato. Si usa il termine dicotomica (dal greco: tagliare in due) perché si procede a divisioni successive dell’array.</a:t>
            </a:r>
          </a:p>
          <a:p>
            <a:pPr algn="l" fontAlgn="base"/>
            <a:r>
              <a:rPr lang="it-IT" b="0" i="0" dirty="0">
                <a:solidFill>
                  <a:srgbClr val="444444"/>
                </a:solidFill>
                <a:effectLst/>
                <a:latin typeface="Raleway" pitchFamily="2" charset="0"/>
              </a:rPr>
              <a:t>Questo algoritmo rientra dunque nella famiglia degli algoritmi che utilizzano il metodo </a:t>
            </a:r>
            <a:r>
              <a:rPr lang="it-IT" b="0" i="1" dirty="0">
                <a:solidFill>
                  <a:srgbClr val="444444"/>
                </a:solidFill>
                <a:effectLst/>
                <a:latin typeface="inherit"/>
              </a:rPr>
              <a:t>divide et impera</a:t>
            </a:r>
            <a:r>
              <a:rPr lang="it-IT" b="0" i="0" dirty="0">
                <a:solidFill>
                  <a:srgbClr val="444444"/>
                </a:solidFill>
                <a:effectLst/>
                <a:latin typeface="Raleway" pitchFamily="2" charset="0"/>
              </a:rPr>
              <a:t>.</a:t>
            </a:r>
          </a:p>
          <a:p>
            <a:pPr algn="l" fontAlgn="base"/>
            <a:r>
              <a:rPr lang="it-IT" b="0" i="0" dirty="0">
                <a:solidFill>
                  <a:srgbClr val="444444"/>
                </a:solidFill>
                <a:effectLst/>
                <a:latin typeface="Raleway" pitchFamily="2" charset="0"/>
              </a:rPr>
              <a:t>Utilizzare la </a:t>
            </a:r>
            <a:r>
              <a:rPr lang="it-IT" b="1" i="0" dirty="0">
                <a:solidFill>
                  <a:srgbClr val="444444"/>
                </a:solidFill>
                <a:effectLst/>
                <a:latin typeface="inherit"/>
              </a:rPr>
              <a:t>ricerca binaria</a:t>
            </a:r>
            <a:r>
              <a:rPr lang="it-IT" b="0" i="0" dirty="0">
                <a:solidFill>
                  <a:srgbClr val="444444"/>
                </a:solidFill>
                <a:effectLst/>
                <a:latin typeface="Raleway" pitchFamily="2" charset="0"/>
              </a:rPr>
              <a:t> in un array ordinato è molto più efficiente rispetto alla ricerca sequenziale, in special modo se l’array contiene tanti elementi.</a:t>
            </a:r>
          </a:p>
          <a:p>
            <a:pPr algn="l" fontAlgn="base"/>
            <a:r>
              <a:rPr lang="it-IT" b="0" i="0" dirty="0">
                <a:solidFill>
                  <a:srgbClr val="444444"/>
                </a:solidFill>
                <a:effectLst/>
                <a:latin typeface="Raleway" pitchFamily="2" charset="0"/>
              </a:rPr>
              <a:t>Questo algoritmo viene utilizzato in molte applicazioni in maniera naturale, come ad esempio il gioco indovina numero, la ricerca di una parola in un vocabolario o la ricerca di un contatto telefonico in una rubrica. Quindi ad esempio in quest’ultimo caso, si apre la rubrica, verso l’elemento centrale (poi vedremo come migliorare la ricerca con un algoritmo di ricerca interpolato), quindi si confronta il valore trovato con la chiave da cercare.</a:t>
            </a:r>
          </a:p>
          <a:p>
            <a:pPr algn="l" fontAlgn="base"/>
            <a:r>
              <a:rPr lang="it-IT" b="0" i="0" dirty="0">
                <a:solidFill>
                  <a:srgbClr val="444444"/>
                </a:solidFill>
                <a:effectLst/>
                <a:latin typeface="Raleway" pitchFamily="2" charset="0"/>
              </a:rPr>
              <a:t>Se la </a:t>
            </a:r>
            <a:r>
              <a:rPr lang="it-IT" b="0" i="1" dirty="0">
                <a:solidFill>
                  <a:srgbClr val="444444"/>
                </a:solidFill>
                <a:effectLst/>
                <a:latin typeface="inherit"/>
              </a:rPr>
              <a:t>chiave </a:t>
            </a:r>
            <a:r>
              <a:rPr lang="it-IT" b="0" i="0" dirty="0">
                <a:solidFill>
                  <a:srgbClr val="444444"/>
                </a:solidFill>
                <a:effectLst/>
                <a:latin typeface="Raleway" pitchFamily="2" charset="0"/>
              </a:rPr>
              <a:t>è </a:t>
            </a:r>
            <a:r>
              <a:rPr lang="it-IT" b="1" i="0" dirty="0">
                <a:solidFill>
                  <a:srgbClr val="444444"/>
                </a:solidFill>
                <a:effectLst/>
                <a:latin typeface="inherit"/>
              </a:rPr>
              <a:t>uguale </a:t>
            </a:r>
            <a:r>
              <a:rPr lang="it-IT" b="0" i="0" dirty="0">
                <a:solidFill>
                  <a:srgbClr val="444444"/>
                </a:solidFill>
                <a:effectLst/>
                <a:latin typeface="Raleway" pitchFamily="2" charset="0"/>
              </a:rPr>
              <a:t>abbiamo trovato subito l’elemento.</a:t>
            </a:r>
          </a:p>
          <a:p>
            <a:pPr algn="l" fontAlgn="base"/>
            <a:r>
              <a:rPr lang="it-IT" b="0" i="0" dirty="0">
                <a:solidFill>
                  <a:srgbClr val="444444"/>
                </a:solidFill>
                <a:effectLst/>
                <a:latin typeface="Raleway" pitchFamily="2" charset="0"/>
              </a:rPr>
              <a:t>Altrimenti, se la </a:t>
            </a:r>
            <a:r>
              <a:rPr lang="it-IT" b="0" i="1" dirty="0">
                <a:solidFill>
                  <a:srgbClr val="444444"/>
                </a:solidFill>
                <a:effectLst/>
                <a:latin typeface="inherit"/>
              </a:rPr>
              <a:t>chiave </a:t>
            </a:r>
            <a:r>
              <a:rPr lang="it-IT" b="0" i="0" dirty="0">
                <a:solidFill>
                  <a:srgbClr val="444444"/>
                </a:solidFill>
                <a:effectLst/>
                <a:latin typeface="Raleway" pitchFamily="2" charset="0"/>
              </a:rPr>
              <a:t>è </a:t>
            </a:r>
            <a:r>
              <a:rPr lang="it-IT" b="1" i="0" dirty="0">
                <a:solidFill>
                  <a:srgbClr val="444444"/>
                </a:solidFill>
                <a:effectLst/>
                <a:latin typeface="inherit"/>
              </a:rPr>
              <a:t>maggiore </a:t>
            </a:r>
            <a:r>
              <a:rPr lang="it-IT" b="0" i="0" dirty="0">
                <a:solidFill>
                  <a:srgbClr val="444444"/>
                </a:solidFill>
                <a:effectLst/>
                <a:latin typeface="Raleway" pitchFamily="2" charset="0"/>
              </a:rPr>
              <a:t>allora si confronta con i valori successivi, scartando quelli precedenti, cioè gli elementi a destra del valore centrale.</a:t>
            </a:r>
          </a:p>
          <a:p>
            <a:pPr algn="l" fontAlgn="base"/>
            <a:r>
              <a:rPr lang="it-IT" b="0" i="0" dirty="0">
                <a:solidFill>
                  <a:srgbClr val="444444"/>
                </a:solidFill>
                <a:effectLst/>
                <a:latin typeface="Raleway" pitchFamily="2" charset="0"/>
              </a:rPr>
              <a:t>Infine se la </a:t>
            </a:r>
            <a:r>
              <a:rPr lang="it-IT" b="0" i="1" dirty="0">
                <a:solidFill>
                  <a:srgbClr val="444444"/>
                </a:solidFill>
                <a:effectLst/>
                <a:latin typeface="inherit"/>
              </a:rPr>
              <a:t>chiave </a:t>
            </a:r>
            <a:r>
              <a:rPr lang="it-IT" b="0" i="0" dirty="0">
                <a:solidFill>
                  <a:srgbClr val="444444"/>
                </a:solidFill>
                <a:effectLst/>
                <a:latin typeface="Raleway" pitchFamily="2" charset="0"/>
              </a:rPr>
              <a:t>è </a:t>
            </a:r>
            <a:r>
              <a:rPr lang="it-IT" b="1" i="0" dirty="0">
                <a:solidFill>
                  <a:srgbClr val="444444"/>
                </a:solidFill>
                <a:effectLst/>
                <a:latin typeface="inherit"/>
              </a:rPr>
              <a:t>minore </a:t>
            </a:r>
            <a:r>
              <a:rPr lang="it-IT" b="0" i="0" dirty="0">
                <a:solidFill>
                  <a:srgbClr val="444444"/>
                </a:solidFill>
                <a:effectLst/>
                <a:latin typeface="Raleway" pitchFamily="2" charset="0"/>
              </a:rPr>
              <a:t>si confronta con i valori precedenti, scartando i successivi, cioè gli elementi a sinistra del valore centrale.</a:t>
            </a:r>
          </a:p>
          <a:p>
            <a:pPr algn="l" fontAlgn="base"/>
            <a:r>
              <a:rPr lang="it-IT" b="0" i="0" dirty="0">
                <a:solidFill>
                  <a:srgbClr val="444444"/>
                </a:solidFill>
                <a:effectLst/>
                <a:latin typeface="Raleway" pitchFamily="2" charset="0"/>
              </a:rPr>
              <a:t>Questo chiaramente per un array ordinato in ordine crescente.</a:t>
            </a:r>
          </a:p>
          <a:p>
            <a:endParaRPr lang="it-IT" dirty="0"/>
          </a:p>
        </p:txBody>
      </p:sp>
      <p:sp>
        <p:nvSpPr>
          <p:cNvPr id="4" name="Segnaposto numero diapositiva 3"/>
          <p:cNvSpPr>
            <a:spLocks noGrp="1"/>
          </p:cNvSpPr>
          <p:nvPr>
            <p:ph type="sldNum"/>
          </p:nvPr>
        </p:nvSpPr>
        <p:spPr/>
        <p:txBody>
          <a:bodyPr/>
          <a:lstStyle/>
          <a:p>
            <a:pPr algn="r"/>
            <a:fld id="{AE8F551D-B424-4CDB-9B44-C0E9C7D4B3D3}" type="slidenum">
              <a:rPr lang="it-IT" sz="1400" b="0" strike="noStrike" spc="-1" smtClean="0">
                <a:latin typeface="Times New Roman"/>
              </a:rPr>
              <a:t>3</a:t>
            </a:fld>
            <a:endParaRPr lang="it-IT" sz="1400" b="0" strike="noStrike" spc="-1">
              <a:latin typeface="Times New Roman"/>
            </a:endParaRPr>
          </a:p>
        </p:txBody>
      </p:sp>
    </p:spTree>
    <p:extLst>
      <p:ext uri="{BB962C8B-B14F-4D97-AF65-F5344CB8AC3E}">
        <p14:creationId xmlns:p14="http://schemas.microsoft.com/office/powerpoint/2010/main" val="672460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1108075" y="812800"/>
            <a:ext cx="5343525" cy="4008438"/>
          </a:xfrm>
        </p:spPr>
      </p:sp>
      <p:sp>
        <p:nvSpPr>
          <p:cNvPr id="3" name="Segnaposto note 2"/>
          <p:cNvSpPr>
            <a:spLocks noGrp="1"/>
          </p:cNvSpPr>
          <p:nvPr>
            <p:ph type="body" idx="1"/>
          </p:nvPr>
        </p:nvSpPr>
        <p:spPr/>
        <p:txBody>
          <a:bodyPr/>
          <a:lstStyle/>
          <a:p>
            <a:r>
              <a:rPr lang="it-IT" dirty="0" err="1"/>
              <a:t>Quicksort</a:t>
            </a:r>
            <a:r>
              <a:rPr lang="it-IT" dirty="0"/>
              <a:t> è un algoritmo di ordinamento ricorsivo in place non stabile. Tale procedura ricorsiva viene comunemente detta </a:t>
            </a:r>
            <a:r>
              <a:rPr lang="it-IT" dirty="0" err="1"/>
              <a:t>partition</a:t>
            </a:r>
            <a:r>
              <a:rPr lang="it-IT" dirty="0"/>
              <a:t>: preso un elemento chiamato "pivot" da una struttura dati (es. array) si pongono gli elementi minori a sinistra rispetto al pivot e gli elementi maggiori a destra. L'operazione viene quindi reiterata sui due insiemi risultanti fino al completo ordinamento della struttura.</a:t>
            </a:r>
          </a:p>
          <a:p>
            <a:endParaRPr lang="it-IT" dirty="0"/>
          </a:p>
          <a:p>
            <a:r>
              <a:rPr lang="it-IT" dirty="0"/>
              <a:t>Il </a:t>
            </a:r>
            <a:r>
              <a:rPr lang="it-IT" dirty="0" err="1"/>
              <a:t>Quicksort</a:t>
            </a:r>
            <a:r>
              <a:rPr lang="it-IT" dirty="0"/>
              <a:t>, termine che tradotto letteralmente in italiano indica ordinamento rapido, è l'algoritmo di ordinamento che ha, nel caso medio, prestazioni migliori tra quelli basati su confronto. È stato ideato da Charles Antony Richard </a:t>
            </a:r>
            <a:r>
              <a:rPr lang="it-IT" dirty="0" err="1"/>
              <a:t>Hoare</a:t>
            </a:r>
            <a:r>
              <a:rPr lang="it-IT" dirty="0"/>
              <a:t> nel 1962.</a:t>
            </a:r>
          </a:p>
          <a:p>
            <a:endParaRPr lang="it-IT" dirty="0"/>
          </a:p>
          <a:p>
            <a:r>
              <a:rPr lang="it-IT" dirty="0"/>
              <a:t>L'idea base può esprimersi agevolmente in termini ricorsivi. Ad ogni stadio si effettua un ordinamento parziale di una sequenza di oggetti da ordinare. Assunto un elemento come perno dello stadio, si confrontano con esso gli altri elementi e si posizionano alla sua sinistra i minori e a destra i maggiori, senza tener conto del loro ordine. Dopo questo stadio si ha che il perno è nella sua posizione definitiva.</a:t>
            </a:r>
          </a:p>
          <a:p>
            <a:endParaRPr lang="it-IT" dirty="0"/>
          </a:p>
          <a:p>
            <a:r>
              <a:rPr lang="it-IT" dirty="0"/>
              <a:t>Successivamente si organizzano nuovi stadi simili nei quali si procede all'ordinamento parziale delle </a:t>
            </a:r>
            <a:r>
              <a:rPr lang="it-IT" dirty="0" err="1"/>
              <a:t>sottosequenze</a:t>
            </a:r>
            <a:r>
              <a:rPr lang="it-IT" dirty="0"/>
              <a:t> di elementi rimasti non ordinati, fino al loro esaurimento.</a:t>
            </a:r>
          </a:p>
        </p:txBody>
      </p:sp>
      <p:sp>
        <p:nvSpPr>
          <p:cNvPr id="4" name="Segnaposto numero diapositiva 3"/>
          <p:cNvSpPr>
            <a:spLocks noGrp="1"/>
          </p:cNvSpPr>
          <p:nvPr>
            <p:ph type="sldNum"/>
          </p:nvPr>
        </p:nvSpPr>
        <p:spPr/>
        <p:txBody>
          <a:bodyPr/>
          <a:lstStyle/>
          <a:p>
            <a:pPr algn="r"/>
            <a:fld id="{AE8F551D-B424-4CDB-9B44-C0E9C7D4B3D3}" type="slidenum">
              <a:rPr lang="it-IT" sz="1400" b="0" strike="noStrike" spc="-1" smtClean="0">
                <a:latin typeface="Times New Roman"/>
              </a:rPr>
              <a:t>5</a:t>
            </a:fld>
            <a:endParaRPr lang="it-IT" sz="1400" b="0" strike="noStrike" spc="-1">
              <a:latin typeface="Times New Roman"/>
            </a:endParaRPr>
          </a:p>
        </p:txBody>
      </p:sp>
    </p:spTree>
    <p:extLst>
      <p:ext uri="{BB962C8B-B14F-4D97-AF65-F5344CB8AC3E}">
        <p14:creationId xmlns:p14="http://schemas.microsoft.com/office/powerpoint/2010/main" val="16456835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8" name="CustomShape 1">
            <a:extLst>
              <a:ext uri="{FF2B5EF4-FFF2-40B4-BE49-F238E27FC236}">
                <a16:creationId xmlns:a16="http://schemas.microsoft.com/office/drawing/2014/main" id="{39337AFF-2B3D-43A8-B024-4B73D336750A}"/>
              </a:ext>
            </a:extLst>
          </p:cNvPr>
          <p:cNvSpPr/>
          <p:nvPr userDrawn="1"/>
        </p:nvSpPr>
        <p:spPr>
          <a:xfrm>
            <a:off x="0" y="0"/>
            <a:ext cx="9144000" cy="460211"/>
          </a:xfrm>
          <a:prstGeom prst="rect">
            <a:avLst/>
          </a:prstGeom>
          <a:solidFill>
            <a:srgbClr val="2893D1"/>
          </a:solid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it-IT" sz="2400" b="1" strike="noStrike" spc="0" dirty="0">
                <a:solidFill>
                  <a:srgbClr val="FFFFFF"/>
                </a:solidFill>
                <a:latin typeface="Tahoma"/>
                <a:ea typeface="Tahoma"/>
              </a:rPr>
              <a:t>Capitolo 16. Ordinamento e ricerca</a:t>
            </a:r>
          </a:p>
        </p:txBody>
      </p:sp>
      <p:sp>
        <p:nvSpPr>
          <p:cNvPr id="9" name="Line 2">
            <a:extLst>
              <a:ext uri="{FF2B5EF4-FFF2-40B4-BE49-F238E27FC236}">
                <a16:creationId xmlns:a16="http://schemas.microsoft.com/office/drawing/2014/main" id="{15AE6D9E-DF10-40C5-8429-9386A2B34B28}"/>
              </a:ext>
            </a:extLst>
          </p:cNvPr>
          <p:cNvSpPr/>
          <p:nvPr userDrawn="1"/>
        </p:nvSpPr>
        <p:spPr>
          <a:xfrm>
            <a:off x="0" y="444170"/>
            <a:ext cx="7808760" cy="0"/>
          </a:xfrm>
          <a:prstGeom prst="line">
            <a:avLst/>
          </a:prstGeom>
          <a:ln w="9360">
            <a:solidFill>
              <a:schemeClr val="tx2"/>
            </a:solidFill>
            <a:round/>
          </a:ln>
        </p:spPr>
        <p:style>
          <a:lnRef idx="0">
            <a:scrgbClr r="0" g="0" b="0"/>
          </a:lnRef>
          <a:fillRef idx="0">
            <a:scrgbClr r="0" g="0" b="0"/>
          </a:fillRef>
          <a:effectRef idx="0">
            <a:scrgbClr r="0" g="0" b="0"/>
          </a:effectRef>
          <a:fontRef idx="minor"/>
        </p:style>
        <p:txBody>
          <a:bodyPr/>
          <a:lstStyle/>
          <a:p>
            <a:endParaRPr lang="it-IT" dirty="0"/>
          </a:p>
        </p:txBody>
      </p:sp>
      <p:pic>
        <p:nvPicPr>
          <p:cNvPr id="10" name="Immagine 2">
            <a:extLst>
              <a:ext uri="{FF2B5EF4-FFF2-40B4-BE49-F238E27FC236}">
                <a16:creationId xmlns:a16="http://schemas.microsoft.com/office/drawing/2014/main" id="{34C3AAF7-DEFB-44BD-A9A4-FB105D3862A8}"/>
              </a:ext>
            </a:extLst>
          </p:cNvPr>
          <p:cNvPicPr/>
          <p:nvPr userDrawn="1"/>
        </p:nvPicPr>
        <p:blipFill>
          <a:blip r:embed="rId2"/>
          <a:stretch/>
        </p:blipFill>
        <p:spPr>
          <a:xfrm>
            <a:off x="7782120" y="0"/>
            <a:ext cx="1361880" cy="1924560"/>
          </a:xfrm>
          <a:prstGeom prst="rect">
            <a:avLst/>
          </a:prstGeom>
          <a:ln>
            <a:solidFill>
              <a:schemeClr val="bg2"/>
            </a:solidFill>
          </a:ln>
        </p:spPr>
      </p:pic>
    </p:spTree>
    <p:extLst>
      <p:ext uri="{BB962C8B-B14F-4D97-AF65-F5344CB8AC3E}">
        <p14:creationId xmlns:p14="http://schemas.microsoft.com/office/powerpoint/2010/main" val="759743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Content">
    <p:spTree>
      <p:nvGrpSpPr>
        <p:cNvPr id="1" name=""/>
        <p:cNvGrpSpPr/>
        <p:nvPr/>
      </p:nvGrpSpPr>
      <p:grpSpPr>
        <a:xfrm>
          <a:off x="0" y="0"/>
          <a:ext cx="0" cy="0"/>
          <a:chOff x="0" y="0"/>
          <a:chExt cx="0" cy="0"/>
        </a:xfrm>
      </p:grpSpPr>
      <p:pic>
        <p:nvPicPr>
          <p:cNvPr id="4" name="Immagine 2">
            <a:extLst>
              <a:ext uri="{FF2B5EF4-FFF2-40B4-BE49-F238E27FC236}">
                <a16:creationId xmlns:a16="http://schemas.microsoft.com/office/drawing/2014/main" id="{409B820A-FD54-4F13-8B35-5B959438F164}"/>
              </a:ext>
            </a:extLst>
          </p:cNvPr>
          <p:cNvPicPr/>
          <p:nvPr userDrawn="1"/>
        </p:nvPicPr>
        <p:blipFill>
          <a:blip r:embed="rId2"/>
          <a:stretch/>
        </p:blipFill>
        <p:spPr>
          <a:xfrm>
            <a:off x="7782120" y="0"/>
            <a:ext cx="1361880" cy="1924560"/>
          </a:xfrm>
          <a:prstGeom prst="rect">
            <a:avLst/>
          </a:prstGeom>
          <a:ln>
            <a:solidFill>
              <a:schemeClr val="bg2"/>
            </a:solidFill>
          </a:ln>
        </p:spPr>
      </p:pic>
    </p:spTree>
    <p:extLst>
      <p:ext uri="{BB962C8B-B14F-4D97-AF65-F5344CB8AC3E}">
        <p14:creationId xmlns:p14="http://schemas.microsoft.com/office/powerpoint/2010/main" val="3256594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2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5597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olo e contenuto">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78954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CustomShape 3"/>
          <p:cNvSpPr/>
          <p:nvPr/>
        </p:nvSpPr>
        <p:spPr>
          <a:xfrm>
            <a:off x="0" y="6453360"/>
            <a:ext cx="9143640" cy="431280"/>
          </a:xfrm>
          <a:prstGeom prst="rect">
            <a:avLst/>
          </a:prstGeom>
          <a:solidFill>
            <a:srgbClr val="2893D1"/>
          </a:solidFill>
          <a:ln w="9360">
            <a:solidFill>
              <a:schemeClr val="tx2"/>
            </a:solidFill>
            <a:miter/>
          </a:ln>
        </p:spPr>
        <p:style>
          <a:lnRef idx="0">
            <a:scrgbClr r="0" g="0" b="0"/>
          </a:lnRef>
          <a:fillRef idx="0">
            <a:scrgbClr r="0" g="0" b="0"/>
          </a:fillRef>
          <a:effectRef idx="0">
            <a:scrgbClr r="0" g="0" b="0"/>
          </a:effectRef>
          <a:fontRef idx="minor"/>
        </p:style>
      </p:sp>
      <p:sp>
        <p:nvSpPr>
          <p:cNvPr id="3" name="CustomShape 4"/>
          <p:cNvSpPr/>
          <p:nvPr/>
        </p:nvSpPr>
        <p:spPr>
          <a:xfrm>
            <a:off x="59040" y="6472440"/>
            <a:ext cx="4368960" cy="394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it-IT" sz="1000" b="1" strike="noStrike" spc="-1">
                <a:solidFill>
                  <a:srgbClr val="FFFFFF"/>
                </a:solidFill>
                <a:latin typeface="Tahoma"/>
                <a:ea typeface="Tahoma"/>
              </a:rPr>
              <a:t>Fondamenti di programmazione in C++ – Seconda edizione</a:t>
            </a:r>
            <a:br/>
            <a:r>
              <a:rPr lang="it-IT" sz="1000" b="0" strike="noStrike" spc="-1">
                <a:solidFill>
                  <a:srgbClr val="FFFFFF"/>
                </a:solidFill>
                <a:latin typeface="Tahoma"/>
                <a:ea typeface="Tahoma"/>
              </a:rPr>
              <a:t>Luis Joyanes Aguilar, Aldo Franco Dragoni (a cura di)</a:t>
            </a:r>
            <a:endParaRPr lang="it-IT" sz="1000" b="0" strike="noStrike" spc="-1">
              <a:latin typeface="Arial"/>
            </a:endParaRPr>
          </a:p>
        </p:txBody>
      </p:sp>
      <p:sp>
        <p:nvSpPr>
          <p:cNvPr id="4" name="CustomShape 5"/>
          <p:cNvSpPr/>
          <p:nvPr/>
        </p:nvSpPr>
        <p:spPr>
          <a:xfrm>
            <a:off x="6156000" y="6453360"/>
            <a:ext cx="2499120" cy="54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pPr>
            <a:r>
              <a:rPr lang="it-IT" sz="1000" b="1" strike="noStrike" spc="-1">
                <a:solidFill>
                  <a:srgbClr val="FFFFFF"/>
                </a:solidFill>
                <a:latin typeface="Tahoma"/>
                <a:ea typeface="Tahoma"/>
              </a:rPr>
              <a:t>Copyright © 2021</a:t>
            </a:r>
            <a:endParaRPr lang="it-IT" sz="1000" b="0" strike="noStrike" spc="-1">
              <a:latin typeface="Arial"/>
            </a:endParaRPr>
          </a:p>
          <a:p>
            <a:pPr algn="r">
              <a:lnSpc>
                <a:spcPct val="100000"/>
              </a:lnSpc>
            </a:pPr>
            <a:r>
              <a:rPr lang="it-IT" sz="1000" b="1" strike="noStrike" spc="-1">
                <a:solidFill>
                  <a:srgbClr val="FFFFFF"/>
                </a:solidFill>
                <a:latin typeface="Tahoma"/>
                <a:ea typeface="Tahoma"/>
              </a:rPr>
              <a:t>McGraw-Hill Education (Italy) S.r.l. </a:t>
            </a:r>
            <a:endParaRPr lang="it-IT" sz="1000" b="0" strike="noStrike" spc="-1">
              <a:latin typeface="Arial"/>
            </a:endParaRPr>
          </a:p>
        </p:txBody>
      </p:sp>
      <p:pic>
        <p:nvPicPr>
          <p:cNvPr id="5" name="Immagine 15" descr="Immagine che contiene segnale, arresto, disegnando, camion&#10;&#10;Descrizione generata automaticamente"/>
          <p:cNvPicPr/>
          <p:nvPr/>
        </p:nvPicPr>
        <p:blipFill>
          <a:blip r:embed="rId6"/>
          <a:stretch/>
        </p:blipFill>
        <p:spPr>
          <a:xfrm>
            <a:off x="8623440" y="6362640"/>
            <a:ext cx="520200" cy="522000"/>
          </a:xfrm>
          <a:prstGeom prst="rect">
            <a:avLst/>
          </a:prstGeom>
          <a:ln>
            <a:noFill/>
          </a:ln>
        </p:spPr>
      </p:pic>
    </p:spTree>
    <p:extLst>
      <p:ext uri="{BB962C8B-B14F-4D97-AF65-F5344CB8AC3E}">
        <p14:creationId xmlns:p14="http://schemas.microsoft.com/office/powerpoint/2010/main" val="3265856986"/>
      </p:ext>
    </p:extLst>
  </p:cSld>
  <p:clrMap bg1="lt1" tx1="dk1" bg2="lt2" tx2="dk2" accent1="accent1" accent2="accent2" accent3="accent3" accent4="accent4" accent5="accent5" accent6="accent6" hlink="hlink" folHlink="folHlink"/>
  <p:sldLayoutIdLst>
    <p:sldLayoutId id="2147483688" r:id="rId1"/>
    <p:sldLayoutId id="2147483691" r:id="rId2"/>
    <p:sldLayoutId id="2147483692" r:id="rId3"/>
    <p:sldLayoutId id="2147483693"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CustomShape 1"/>
          <p:cNvSpPr/>
          <p:nvPr/>
        </p:nvSpPr>
        <p:spPr>
          <a:xfrm>
            <a:off x="8317080" y="6093000"/>
            <a:ext cx="647280" cy="431280"/>
          </a:xfrm>
          <a:prstGeom prst="actionButtonBlank">
            <a:avLst/>
          </a:prstGeom>
          <a:noFill/>
          <a:ln>
            <a:noFill/>
          </a:ln>
        </p:spPr>
        <p:style>
          <a:lnRef idx="0">
            <a:scrgbClr r="0" g="0" b="0"/>
          </a:lnRef>
          <a:fillRef idx="0">
            <a:scrgbClr r="0" g="0" b="0"/>
          </a:fillRef>
          <a:effectRef idx="0">
            <a:scrgbClr r="0" g="0" b="0"/>
          </a:effectRef>
          <a:fontRef idx="minor"/>
        </p:style>
      </p:sp>
      <p:sp>
        <p:nvSpPr>
          <p:cNvPr id="104" name="CustomShape 2"/>
          <p:cNvSpPr/>
          <p:nvPr/>
        </p:nvSpPr>
        <p:spPr>
          <a:xfrm>
            <a:off x="4572000" y="1139299"/>
            <a:ext cx="3619500" cy="255309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lnSpc>
                <a:spcPct val="100000"/>
              </a:lnSpc>
            </a:pPr>
            <a:r>
              <a:rPr lang="it-IT" sz="4000" b="1" strike="noStrike" spc="-1" dirty="0">
                <a:solidFill>
                  <a:srgbClr val="2893D1"/>
                </a:solidFill>
                <a:latin typeface="Calibri"/>
              </a:rPr>
              <a:t>Capitolo 16</a:t>
            </a:r>
            <a:endParaRPr lang="it-IT" sz="4000" b="0" strike="noStrike" spc="-1" dirty="0">
              <a:latin typeface="Arial"/>
            </a:endParaRPr>
          </a:p>
          <a:p>
            <a:pPr algn="ctr">
              <a:lnSpc>
                <a:spcPct val="100000"/>
              </a:lnSpc>
            </a:pPr>
            <a:endParaRPr lang="it-IT" sz="4000" b="0" strike="noStrike" spc="-1" dirty="0">
              <a:latin typeface="Arial"/>
            </a:endParaRPr>
          </a:p>
          <a:p>
            <a:pPr algn="ctr">
              <a:lnSpc>
                <a:spcPct val="100000"/>
              </a:lnSpc>
            </a:pPr>
            <a:r>
              <a:rPr lang="it-IT" sz="4000" b="1" spc="-100" dirty="0">
                <a:solidFill>
                  <a:srgbClr val="E21A24"/>
                </a:solidFill>
                <a:latin typeface="Calibri"/>
              </a:rPr>
              <a:t>Ordinamento e ricerca</a:t>
            </a:r>
          </a:p>
        </p:txBody>
      </p:sp>
      <p:pic>
        <p:nvPicPr>
          <p:cNvPr id="7" name="Immagine 6">
            <a:extLst>
              <a:ext uri="{FF2B5EF4-FFF2-40B4-BE49-F238E27FC236}">
                <a16:creationId xmlns:a16="http://schemas.microsoft.com/office/drawing/2014/main" id="{740FA196-2483-41FD-A148-0D19FA9F75E8}"/>
              </a:ext>
            </a:extLst>
          </p:cNvPr>
          <p:cNvPicPr>
            <a:picLocks noChangeAspect="1"/>
          </p:cNvPicPr>
          <p:nvPr/>
        </p:nvPicPr>
        <p:blipFill>
          <a:blip r:embed="rId3"/>
          <a:stretch>
            <a:fillRect/>
          </a:stretch>
        </p:blipFill>
        <p:spPr>
          <a:xfrm>
            <a:off x="952500" y="636397"/>
            <a:ext cx="3619500" cy="5114925"/>
          </a:xfrm>
          <a:prstGeom prst="rect">
            <a:avLst/>
          </a:prstGeom>
          <a:solidFill>
            <a:schemeClr val="bg2"/>
          </a:solidFill>
          <a:ln>
            <a:solidFill>
              <a:schemeClr val="bg2"/>
            </a:solidFill>
          </a:ln>
        </p:spPr>
      </p:pic>
      <p:sp>
        <p:nvSpPr>
          <p:cNvPr id="5" name="CasellaDiTesto 1">
            <a:extLst>
              <a:ext uri="{FF2B5EF4-FFF2-40B4-BE49-F238E27FC236}">
                <a16:creationId xmlns:a16="http://schemas.microsoft.com/office/drawing/2014/main" id="{B7794ECC-2E3A-409D-A656-CFCB111E127F}"/>
              </a:ext>
            </a:extLst>
          </p:cNvPr>
          <p:cNvSpPr txBox="1"/>
          <p:nvPr/>
        </p:nvSpPr>
        <p:spPr>
          <a:xfrm>
            <a:off x="4644000" y="4797000"/>
            <a:ext cx="4147289" cy="369332"/>
          </a:xfrm>
          <a:prstGeom prst="rect">
            <a:avLst/>
          </a:prstGeom>
          <a:noFill/>
        </p:spPr>
        <p:txBody>
          <a:bodyPr wrap="none" rtlCol="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dirty="0"/>
              <a:t>Presenta: Massimo Orazio Spata,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 name="Immagine 145"/>
          <p:cNvPicPr/>
          <p:nvPr/>
        </p:nvPicPr>
        <p:blipFill>
          <a:blip r:embed="rId2"/>
          <a:stretch/>
        </p:blipFill>
        <p:spPr>
          <a:xfrm>
            <a:off x="540000" y="2621880"/>
            <a:ext cx="6895800" cy="2238120"/>
          </a:xfrm>
          <a:prstGeom prst="rect">
            <a:avLst/>
          </a:prstGeom>
          <a:ln w="0">
            <a:noFill/>
          </a:ln>
        </p:spPr>
      </p:pic>
      <p:sp>
        <p:nvSpPr>
          <p:cNvPr id="4" name="CustomShape 1">
            <a:extLst>
              <a:ext uri="{FF2B5EF4-FFF2-40B4-BE49-F238E27FC236}">
                <a16:creationId xmlns:a16="http://schemas.microsoft.com/office/drawing/2014/main" id="{96685C7F-8DC4-45B8-A665-2FEB55535B3C}"/>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ricerca sequenziale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Immagine 147"/>
          <p:cNvPicPr/>
          <p:nvPr/>
        </p:nvPicPr>
        <p:blipFill>
          <a:blip r:embed="rId3"/>
          <a:stretch/>
        </p:blipFill>
        <p:spPr>
          <a:xfrm>
            <a:off x="183240" y="1260000"/>
            <a:ext cx="7586640" cy="5180760"/>
          </a:xfrm>
          <a:prstGeom prst="rect">
            <a:avLst/>
          </a:prstGeom>
          <a:ln w="0">
            <a:noFill/>
          </a:ln>
        </p:spPr>
      </p:pic>
      <p:sp>
        <p:nvSpPr>
          <p:cNvPr id="4" name="CustomShape 1">
            <a:extLst>
              <a:ext uri="{FF2B5EF4-FFF2-40B4-BE49-F238E27FC236}">
                <a16:creationId xmlns:a16="http://schemas.microsoft.com/office/drawing/2014/main" id="{6C0F43EC-9D24-4B26-AA13-8DA13EECD56C}"/>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ricerca binaria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CasellaDiTesto 149"/>
          <p:cNvSpPr txBox="1"/>
          <p:nvPr/>
        </p:nvSpPr>
        <p:spPr>
          <a:xfrm>
            <a:off x="652680" y="2160000"/>
            <a:ext cx="6547320" cy="3333960"/>
          </a:xfrm>
          <a:prstGeom prst="rect">
            <a:avLst/>
          </a:prstGeom>
          <a:noFill/>
          <a:ln w="0">
            <a:noFill/>
          </a:ln>
        </p:spPr>
        <p:txBody>
          <a:bodyPr lIns="0" tIns="0" rIns="0" bIns="0" anchor="t">
            <a:noAutofit/>
          </a:bodyPr>
          <a:lstStyle/>
          <a:p>
            <a:pPr marL="306000" indent="-270000">
              <a:buSzPct val="100000"/>
              <a:buBlip>
                <a:blip r:embed="rId2"/>
              </a:buBlip>
            </a:pPr>
            <a:r>
              <a:rPr lang="it-IT" sz="2800" b="0" strike="noStrike" spc="-1">
                <a:solidFill>
                  <a:srgbClr val="000000"/>
                </a:solidFill>
                <a:latin typeface="Arial"/>
                <a:ea typeface="Arial"/>
              </a:rPr>
              <a:t>per inserimento diretto (</a:t>
            </a:r>
            <a:r>
              <a:rPr lang="it-IT" sz="2800" b="0" i="1" strike="noStrike" spc="-1">
                <a:solidFill>
                  <a:srgbClr val="000000"/>
                </a:solidFill>
                <a:latin typeface="Arial"/>
                <a:ea typeface="Arial"/>
              </a:rPr>
              <a:t>insertionsort</a:t>
            </a:r>
            <a:r>
              <a:rPr lang="it-IT" sz="2800" b="0" strike="noStrike" spc="-1">
                <a:solidFill>
                  <a:srgbClr val="000000"/>
                </a:solidFill>
                <a:latin typeface="Arial"/>
                <a:ea typeface="Arial"/>
              </a:rPr>
              <a:t>)</a:t>
            </a:r>
            <a:br/>
            <a:r>
              <a:rPr lang="it-IT" sz="2800" b="0" strike="noStrike" spc="-1">
                <a:solidFill>
                  <a:srgbClr val="000000"/>
                </a:solidFill>
                <a:latin typeface="Arial"/>
              </a:rPr>
              <a:t> </a:t>
            </a:r>
            <a:endParaRPr lang="it-IT" sz="2800" b="0" strike="noStrike" spc="-1">
              <a:latin typeface="Arial"/>
            </a:endParaRPr>
          </a:p>
          <a:p>
            <a:pPr marL="306000" indent="-270000">
              <a:buSzPct val="100000"/>
              <a:buBlip>
                <a:blip r:embed="rId2"/>
              </a:buBlip>
            </a:pPr>
            <a:r>
              <a:rPr lang="it-IT" sz="2800" b="0" strike="noStrike" spc="-1">
                <a:solidFill>
                  <a:srgbClr val="000000"/>
                </a:solidFill>
                <a:latin typeface="Arial"/>
                <a:ea typeface="Arial"/>
              </a:rPr>
              <a:t>per selezione diretta (</a:t>
            </a:r>
            <a:r>
              <a:rPr lang="it-IT" sz="2800" b="0" i="1" strike="noStrike" spc="-1">
                <a:solidFill>
                  <a:srgbClr val="000000"/>
                </a:solidFill>
                <a:latin typeface="Arial"/>
                <a:ea typeface="Arial"/>
              </a:rPr>
              <a:t>selectionsort</a:t>
            </a:r>
            <a:r>
              <a:rPr lang="it-IT" sz="2800" b="0" strike="noStrike" spc="-1">
                <a:solidFill>
                  <a:srgbClr val="000000"/>
                </a:solidFill>
                <a:latin typeface="Arial"/>
                <a:ea typeface="Arial"/>
              </a:rPr>
              <a:t>)</a:t>
            </a:r>
            <a:br/>
            <a:r>
              <a:rPr lang="it-IT" sz="2800" b="0" strike="noStrike" spc="-1">
                <a:solidFill>
                  <a:srgbClr val="000000"/>
                </a:solidFill>
                <a:latin typeface="Arial"/>
              </a:rPr>
              <a:t> </a:t>
            </a:r>
            <a:endParaRPr lang="it-IT" sz="2800" b="0" strike="noStrike" spc="-1">
              <a:latin typeface="Arial"/>
            </a:endParaRPr>
          </a:p>
          <a:p>
            <a:pPr marL="306000" indent="-270000">
              <a:buSzPct val="100000"/>
              <a:buBlip>
                <a:blip r:embed="rId2"/>
              </a:buBlip>
            </a:pPr>
            <a:r>
              <a:rPr lang="it-IT" sz="2800" b="0" strike="noStrike" spc="-1">
                <a:solidFill>
                  <a:srgbClr val="000000"/>
                </a:solidFill>
                <a:latin typeface="Arial"/>
                <a:ea typeface="Arial"/>
              </a:rPr>
              <a:t>per scambio diretto (</a:t>
            </a:r>
            <a:r>
              <a:rPr lang="it-IT" sz="2800" b="0" i="1" strike="noStrike" spc="-1">
                <a:solidFill>
                  <a:srgbClr val="000000"/>
                </a:solidFill>
                <a:latin typeface="Arial"/>
                <a:ea typeface="Arial"/>
              </a:rPr>
              <a:t>bubblesort</a:t>
            </a:r>
            <a:r>
              <a:rPr lang="it-IT" sz="2800" b="0" strike="noStrike" spc="-1">
                <a:solidFill>
                  <a:srgbClr val="000000"/>
                </a:solidFill>
                <a:latin typeface="Arial"/>
                <a:ea typeface="Arial"/>
              </a:rPr>
              <a:t>)</a:t>
            </a:r>
            <a:br/>
            <a:r>
              <a:rPr lang="it-IT" sz="2800" b="0" strike="noStrike" spc="-1">
                <a:solidFill>
                  <a:srgbClr val="000000"/>
                </a:solidFill>
                <a:latin typeface="Arial"/>
              </a:rPr>
              <a:t> </a:t>
            </a:r>
            <a:endParaRPr lang="it-IT" sz="2800" b="0" strike="noStrike" spc="-1">
              <a:latin typeface="Arial"/>
            </a:endParaRPr>
          </a:p>
          <a:p>
            <a:pPr marL="306000" indent="-270000">
              <a:buSzPct val="100000"/>
              <a:buBlip>
                <a:blip r:embed="rId2"/>
              </a:buBlip>
            </a:pPr>
            <a:r>
              <a:rPr lang="it-IT" sz="2800" b="0" strike="noStrike" spc="-1">
                <a:solidFill>
                  <a:srgbClr val="000000"/>
                </a:solidFill>
                <a:latin typeface="Arial"/>
                <a:ea typeface="Arial"/>
              </a:rPr>
              <a:t>per partizione (</a:t>
            </a:r>
            <a:r>
              <a:rPr lang="it-IT" sz="2800" b="0" i="1" strike="noStrike" spc="-1">
                <a:solidFill>
                  <a:srgbClr val="FF0000"/>
                </a:solidFill>
                <a:latin typeface="Arial"/>
                <a:ea typeface="Arial"/>
              </a:rPr>
              <a:t>quicksort</a:t>
            </a:r>
            <a:r>
              <a:rPr lang="it-IT" sz="2800" b="0" strike="noStrike" spc="-1">
                <a:solidFill>
                  <a:srgbClr val="000000"/>
                </a:solidFill>
                <a:latin typeface="Arial"/>
                <a:ea typeface="Arial"/>
              </a:rPr>
              <a:t>)</a:t>
            </a:r>
            <a:endParaRPr lang="it-IT" sz="2800" b="0" strike="noStrike" spc="-1">
              <a:latin typeface="Arial"/>
            </a:endParaRPr>
          </a:p>
        </p:txBody>
      </p:sp>
      <p:sp>
        <p:nvSpPr>
          <p:cNvPr id="4" name="CustomShape 1">
            <a:extLst>
              <a:ext uri="{FF2B5EF4-FFF2-40B4-BE49-F238E27FC236}">
                <a16:creationId xmlns:a16="http://schemas.microsoft.com/office/drawing/2014/main" id="{6E196787-99DF-4C6D-8707-F83C81695B1C}"/>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ordinamenti di vettori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Rettangolo 166"/>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sp>
        <p:nvSpPr>
          <p:cNvPr id="7" name="CustomShape 1">
            <a:extLst>
              <a:ext uri="{FF2B5EF4-FFF2-40B4-BE49-F238E27FC236}">
                <a16:creationId xmlns:a16="http://schemas.microsoft.com/office/drawing/2014/main" id="{6E40290A-8A69-4B65-AC96-904A0D14C96F}"/>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err="1">
                <a:solidFill>
                  <a:srgbClr val="FF0000"/>
                </a:solidFill>
                <a:latin typeface="Calibri" panose="020F0502020204030204" pitchFamily="34" charset="0"/>
                <a:cs typeface="Calibri" panose="020F0502020204030204" pitchFamily="34" charset="0"/>
              </a:rPr>
              <a:t>QuickSort</a:t>
            </a:r>
            <a:endParaRPr lang="it-IT" sz="4000" spc="-1" dirty="0">
              <a:solidFill>
                <a:srgbClr val="FF0000"/>
              </a:solidFill>
              <a:latin typeface="Calibri" panose="020F0502020204030204" pitchFamily="34" charset="0"/>
              <a:cs typeface="Calibri" panose="020F0502020204030204" pitchFamily="34" charset="0"/>
            </a:endParaRPr>
          </a:p>
        </p:txBody>
      </p:sp>
      <p:grpSp>
        <p:nvGrpSpPr>
          <p:cNvPr id="3" name="Gruppo 2">
            <a:extLst>
              <a:ext uri="{FF2B5EF4-FFF2-40B4-BE49-F238E27FC236}">
                <a16:creationId xmlns:a16="http://schemas.microsoft.com/office/drawing/2014/main" id="{CD846D07-4A8A-4B0E-B1EC-CFFBAE501DB5}"/>
              </a:ext>
            </a:extLst>
          </p:cNvPr>
          <p:cNvGrpSpPr/>
          <p:nvPr/>
        </p:nvGrpSpPr>
        <p:grpSpPr>
          <a:xfrm>
            <a:off x="180360" y="2061000"/>
            <a:ext cx="8423640" cy="4167000"/>
            <a:chOff x="36360" y="2160000"/>
            <a:chExt cx="8423640" cy="4167000"/>
          </a:xfrm>
        </p:grpSpPr>
        <p:pic>
          <p:nvPicPr>
            <p:cNvPr id="168" name="Immagine 167"/>
            <p:cNvPicPr/>
            <p:nvPr/>
          </p:nvPicPr>
          <p:blipFill>
            <a:blip r:embed="rId3"/>
            <a:stretch/>
          </p:blipFill>
          <p:spPr>
            <a:xfrm>
              <a:off x="36360" y="2160000"/>
              <a:ext cx="8423640" cy="4167000"/>
            </a:xfrm>
            <a:prstGeom prst="rect">
              <a:avLst/>
            </a:prstGeom>
            <a:ln w="0">
              <a:noFill/>
            </a:ln>
          </p:spPr>
        </p:pic>
        <p:sp>
          <p:nvSpPr>
            <p:cNvPr id="2" name="Rettangolo 1">
              <a:extLst>
                <a:ext uri="{FF2B5EF4-FFF2-40B4-BE49-F238E27FC236}">
                  <a16:creationId xmlns:a16="http://schemas.microsoft.com/office/drawing/2014/main" id="{98CBF2A8-F7C6-446A-8E78-FF9BD281F2DF}"/>
                </a:ext>
              </a:extLst>
            </p:cNvPr>
            <p:cNvSpPr/>
            <p:nvPr/>
          </p:nvSpPr>
          <p:spPr>
            <a:xfrm>
              <a:off x="5364000" y="2160000"/>
              <a:ext cx="3096000" cy="3243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Rettangolo 170"/>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pic>
        <p:nvPicPr>
          <p:cNvPr id="172" name="Immagine 171"/>
          <p:cNvPicPr/>
          <p:nvPr/>
        </p:nvPicPr>
        <p:blipFill>
          <a:blip r:embed="rId2"/>
          <a:stretch/>
        </p:blipFill>
        <p:spPr>
          <a:xfrm>
            <a:off x="1889280" y="1413000"/>
            <a:ext cx="5346720" cy="4955400"/>
          </a:xfrm>
          <a:prstGeom prst="rect">
            <a:avLst/>
          </a:prstGeom>
          <a:ln w="0">
            <a:noFill/>
          </a:ln>
        </p:spPr>
      </p:pic>
      <p:sp>
        <p:nvSpPr>
          <p:cNvPr id="5" name="CustomShape 1">
            <a:extLst>
              <a:ext uri="{FF2B5EF4-FFF2-40B4-BE49-F238E27FC236}">
                <a16:creationId xmlns:a16="http://schemas.microsoft.com/office/drawing/2014/main" id="{E9AAFE49-B31B-41D1-AEAD-77223E268386}"/>
              </a:ext>
            </a:extLst>
          </p:cNvPr>
          <p:cNvSpPr/>
          <p:nvPr/>
        </p:nvSpPr>
        <p:spPr>
          <a:xfrm>
            <a:off x="1403350" y="836613"/>
            <a:ext cx="633730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err="1">
                <a:solidFill>
                  <a:srgbClr val="FF0000"/>
                </a:solidFill>
                <a:latin typeface="Calibri" panose="020F0502020204030204" pitchFamily="34" charset="0"/>
                <a:cs typeface="Calibri" panose="020F0502020204030204" pitchFamily="34" charset="0"/>
              </a:rPr>
              <a:t>QuickSort</a:t>
            </a:r>
            <a:endParaRPr lang="it-IT" sz="4000" spc="-1" dirty="0">
              <a:solidFill>
                <a:srgbClr val="FF0000"/>
              </a:solidFill>
              <a:latin typeface="Calibri" panose="020F0502020204030204" pitchFamily="34" charset="0"/>
              <a:cs typeface="Calibri" panose="020F0502020204030204" pitchFamily="34" charset="0"/>
            </a:endParaRPr>
          </a:p>
        </p:txBody>
      </p:sp>
      <p:sp>
        <p:nvSpPr>
          <p:cNvPr id="2" name="CasellaDiTesto 1">
            <a:extLst>
              <a:ext uri="{FF2B5EF4-FFF2-40B4-BE49-F238E27FC236}">
                <a16:creationId xmlns:a16="http://schemas.microsoft.com/office/drawing/2014/main" id="{E7F52CA7-BB8B-4330-97A1-FA993BEE298E}"/>
              </a:ext>
            </a:extLst>
          </p:cNvPr>
          <p:cNvSpPr txBox="1"/>
          <p:nvPr/>
        </p:nvSpPr>
        <p:spPr>
          <a:xfrm rot="16200000">
            <a:off x="477456" y="2686266"/>
            <a:ext cx="1851789" cy="369332"/>
          </a:xfrm>
          <a:prstGeom prst="rect">
            <a:avLst/>
          </a:prstGeom>
          <a:noFill/>
        </p:spPr>
        <p:txBody>
          <a:bodyPr wrap="none" rtlCol="0">
            <a:spAutoFit/>
          </a:bodyPr>
          <a:lstStyle/>
          <a:p>
            <a:r>
              <a:rPr lang="it-IT" dirty="0"/>
              <a:t>Partizionamento</a:t>
            </a:r>
          </a:p>
        </p:txBody>
      </p:sp>
      <p:sp>
        <p:nvSpPr>
          <p:cNvPr id="3" name="Parentesi graffa aperta 2">
            <a:extLst>
              <a:ext uri="{FF2B5EF4-FFF2-40B4-BE49-F238E27FC236}">
                <a16:creationId xmlns:a16="http://schemas.microsoft.com/office/drawing/2014/main" id="{D2B96C6D-2D24-48A3-93F9-55C40B4E1F9C}"/>
              </a:ext>
            </a:extLst>
          </p:cNvPr>
          <p:cNvSpPr/>
          <p:nvPr/>
        </p:nvSpPr>
        <p:spPr>
          <a:xfrm>
            <a:off x="1548000" y="1701000"/>
            <a:ext cx="340630" cy="20880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
        <p:nvSpPr>
          <p:cNvPr id="9" name="CasellaDiTesto 8">
            <a:extLst>
              <a:ext uri="{FF2B5EF4-FFF2-40B4-BE49-F238E27FC236}">
                <a16:creationId xmlns:a16="http://schemas.microsoft.com/office/drawing/2014/main" id="{F982F701-90EE-4D5B-A4B5-D1083D755B02}"/>
              </a:ext>
            </a:extLst>
          </p:cNvPr>
          <p:cNvSpPr txBox="1"/>
          <p:nvPr/>
        </p:nvSpPr>
        <p:spPr>
          <a:xfrm rot="16200000">
            <a:off x="807313" y="4766439"/>
            <a:ext cx="1274708" cy="369332"/>
          </a:xfrm>
          <a:prstGeom prst="rect">
            <a:avLst/>
          </a:prstGeom>
          <a:noFill/>
        </p:spPr>
        <p:txBody>
          <a:bodyPr wrap="none" rtlCol="0">
            <a:spAutoFit/>
          </a:bodyPr>
          <a:lstStyle/>
          <a:p>
            <a:r>
              <a:rPr lang="it-IT" dirty="0" err="1"/>
              <a:t>Ricorsione</a:t>
            </a:r>
            <a:endParaRPr lang="it-IT" dirty="0"/>
          </a:p>
        </p:txBody>
      </p:sp>
      <p:sp>
        <p:nvSpPr>
          <p:cNvPr id="10" name="Parentesi graffa aperta 9">
            <a:extLst>
              <a:ext uri="{FF2B5EF4-FFF2-40B4-BE49-F238E27FC236}">
                <a16:creationId xmlns:a16="http://schemas.microsoft.com/office/drawing/2014/main" id="{47DEA165-665B-4CAE-BEA4-ADB1CF6019A2}"/>
              </a:ext>
            </a:extLst>
          </p:cNvPr>
          <p:cNvSpPr/>
          <p:nvPr/>
        </p:nvSpPr>
        <p:spPr>
          <a:xfrm>
            <a:off x="1589316" y="3781173"/>
            <a:ext cx="340630" cy="208800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Rettangolo 173"/>
          <p:cNvSpPr/>
          <p:nvPr/>
        </p:nvSpPr>
        <p:spPr>
          <a:xfrm>
            <a:off x="7380000" y="1080000"/>
            <a:ext cx="360000" cy="900000"/>
          </a:xfrm>
          <a:prstGeom prst="rect">
            <a:avLst/>
          </a:prstGeom>
          <a:solidFill>
            <a:srgbClr val="FFFFFF"/>
          </a:solidFill>
          <a:ln w="0">
            <a:noFill/>
          </a:ln>
        </p:spPr>
        <p:style>
          <a:lnRef idx="0">
            <a:scrgbClr r="0" g="0" b="0"/>
          </a:lnRef>
          <a:fillRef idx="0">
            <a:scrgbClr r="0" g="0" b="0"/>
          </a:fillRef>
          <a:effectRef idx="0">
            <a:scrgbClr r="0" g="0" b="0"/>
          </a:effectRef>
          <a:fontRef idx="minor"/>
        </p:style>
      </p:sp>
      <p:pic>
        <p:nvPicPr>
          <p:cNvPr id="175" name="Immagine 174"/>
          <p:cNvPicPr/>
          <p:nvPr/>
        </p:nvPicPr>
        <p:blipFill>
          <a:blip r:embed="rId2"/>
          <a:stretch/>
        </p:blipFill>
        <p:spPr>
          <a:xfrm>
            <a:off x="0" y="534600"/>
            <a:ext cx="6120000" cy="5905440"/>
          </a:xfrm>
          <a:prstGeom prst="rect">
            <a:avLst/>
          </a:prstGeom>
          <a:ln w="0">
            <a:noFill/>
          </a:ln>
        </p:spPr>
      </p:pic>
      <p:sp>
        <p:nvSpPr>
          <p:cNvPr id="5" name="CustomShape 1">
            <a:extLst>
              <a:ext uri="{FF2B5EF4-FFF2-40B4-BE49-F238E27FC236}">
                <a16:creationId xmlns:a16="http://schemas.microsoft.com/office/drawing/2014/main" id="{890280F0-E9A1-4054-B7A2-D275B2D60A54}"/>
              </a:ext>
            </a:extLst>
          </p:cNvPr>
          <p:cNvSpPr/>
          <p:nvPr/>
        </p:nvSpPr>
        <p:spPr>
          <a:xfrm>
            <a:off x="4572000" y="836613"/>
            <a:ext cx="3168650" cy="4318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err="1">
                <a:solidFill>
                  <a:srgbClr val="FF0000"/>
                </a:solidFill>
                <a:latin typeface="Calibri" panose="020F0502020204030204" pitchFamily="34" charset="0"/>
                <a:cs typeface="Calibri" panose="020F0502020204030204" pitchFamily="34" charset="0"/>
              </a:rPr>
              <a:t>QuickSort</a:t>
            </a:r>
            <a:endParaRPr lang="it-IT" sz="4000" spc="-1" dirty="0">
              <a:solidFill>
                <a:srgbClr val="FF0000"/>
              </a:solidFill>
              <a:latin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EBE627D-4C76-4250-A65D-03F1750BD166}"/>
              </a:ext>
            </a:extLst>
          </p:cNvPr>
          <p:cNvSpPr>
            <a:spLocks noGrp="1" noChangeArrowheads="1"/>
          </p:cNvSpPr>
          <p:nvPr>
            <p:ph type="body" idx="4294967295"/>
          </p:nvPr>
        </p:nvSpPr>
        <p:spPr>
          <a:xfrm>
            <a:off x="685800" y="1600200"/>
            <a:ext cx="8077200" cy="3916363"/>
          </a:xfrm>
        </p:spPr>
        <p:txBody>
          <a:bodyPr/>
          <a:lstStyle/>
          <a:p>
            <a:pPr>
              <a:lnSpc>
                <a:spcPct val="80000"/>
              </a:lnSpc>
            </a:pPr>
            <a:r>
              <a:rPr lang="it-IT" altLang="it-IT" sz="2800" dirty="0"/>
              <a:t>Nel caso peggiore, il perno scelto ad ogni passo è il minimo o il massimo degli elementi nell’array</a:t>
            </a:r>
          </a:p>
          <a:p>
            <a:pPr>
              <a:lnSpc>
                <a:spcPct val="80000"/>
              </a:lnSpc>
            </a:pPr>
            <a:endParaRPr lang="it-IT" altLang="it-IT" sz="1200" dirty="0"/>
          </a:p>
          <a:p>
            <a:pPr>
              <a:lnSpc>
                <a:spcPct val="80000"/>
              </a:lnSpc>
            </a:pPr>
            <a:r>
              <a:rPr lang="it-IT" altLang="it-IT" sz="2800" dirty="0"/>
              <a:t>Il numero di confronti è pertanto:</a:t>
            </a:r>
          </a:p>
          <a:p>
            <a:pPr algn="ctr">
              <a:lnSpc>
                <a:spcPct val="80000"/>
              </a:lnSpc>
              <a:buFontTx/>
              <a:buNone/>
            </a:pPr>
            <a:r>
              <a:rPr lang="it-IT" altLang="it-IT" sz="2800" dirty="0"/>
              <a:t>C(n)=C(n-1) + C(0) + O(n)</a:t>
            </a:r>
          </a:p>
          <a:p>
            <a:pPr algn="ctr">
              <a:lnSpc>
                <a:spcPct val="80000"/>
              </a:lnSpc>
              <a:buFontTx/>
              <a:buNone/>
            </a:pPr>
            <a:r>
              <a:rPr lang="it-IT" altLang="it-IT" sz="2800" dirty="0"/>
              <a:t>=C(n-1)+O(1)+O(n)</a:t>
            </a:r>
          </a:p>
          <a:p>
            <a:pPr algn="ctr">
              <a:lnSpc>
                <a:spcPct val="80000"/>
              </a:lnSpc>
              <a:buFontTx/>
              <a:buNone/>
            </a:pPr>
            <a:r>
              <a:rPr lang="it-IT" altLang="it-IT" sz="2800" dirty="0"/>
              <a:t>=C(n-1)+O(n)</a:t>
            </a:r>
          </a:p>
          <a:p>
            <a:pPr>
              <a:lnSpc>
                <a:spcPct val="80000"/>
              </a:lnSpc>
            </a:pPr>
            <a:endParaRPr lang="it-IT" altLang="it-IT" sz="1200" dirty="0"/>
          </a:p>
          <a:p>
            <a:pPr>
              <a:lnSpc>
                <a:spcPct val="80000"/>
              </a:lnSpc>
            </a:pPr>
            <a:r>
              <a:rPr lang="it-IT" altLang="it-IT" sz="2800" dirty="0"/>
              <a:t>Svolgendo per iterazione si ottiene </a:t>
            </a:r>
          </a:p>
          <a:p>
            <a:pPr algn="ctr">
              <a:lnSpc>
                <a:spcPct val="80000"/>
              </a:lnSpc>
              <a:buFontTx/>
              <a:buNone/>
            </a:pPr>
            <a:r>
              <a:rPr lang="it-IT" altLang="it-IT" sz="2800" dirty="0"/>
              <a:t>C(n) = O(n</a:t>
            </a:r>
            <a:r>
              <a:rPr lang="it-IT" altLang="it-IT" sz="2800" baseline="30000" dirty="0"/>
              <a:t>2</a:t>
            </a:r>
            <a:r>
              <a:rPr lang="it-IT" altLang="it-IT" sz="2800" dirty="0"/>
              <a:t>)</a:t>
            </a:r>
          </a:p>
        </p:txBody>
      </p:sp>
      <p:sp>
        <p:nvSpPr>
          <p:cNvPr id="71683" name="Rectangle 3">
            <a:extLst>
              <a:ext uri="{FF2B5EF4-FFF2-40B4-BE49-F238E27FC236}">
                <a16:creationId xmlns:a16="http://schemas.microsoft.com/office/drawing/2014/main" id="{E2C6D031-8DB5-42A5-B804-1F57B8570DDF}"/>
              </a:ext>
            </a:extLst>
          </p:cNvPr>
          <p:cNvSpPr>
            <a:spLocks noChangeArrowheads="1"/>
          </p:cNvSpPr>
          <p:nvPr/>
        </p:nvSpPr>
        <p:spPr bwMode="black">
          <a:xfrm>
            <a:off x="495300" y="252413"/>
            <a:ext cx="8458200" cy="91440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altLang="it-IT" sz="4000" spc="-1" dirty="0">
                <a:solidFill>
                  <a:srgbClr val="FF0000"/>
                </a:solidFill>
                <a:latin typeface="Calibri" panose="020F0502020204030204" pitchFamily="34" charset="0"/>
                <a:cs typeface="Calibri" panose="020F0502020204030204" pitchFamily="34" charset="0"/>
              </a:rPr>
              <a:t>Analisi nel caso peggiore</a:t>
            </a:r>
          </a:p>
        </p:txBody>
      </p:sp>
      <p:sp>
        <p:nvSpPr>
          <p:cNvPr id="71684" name="Text Box 4">
            <a:extLst>
              <a:ext uri="{FF2B5EF4-FFF2-40B4-BE49-F238E27FC236}">
                <a16:creationId xmlns:a16="http://schemas.microsoft.com/office/drawing/2014/main" id="{C374D359-8279-4940-9385-D15F3D5D2D5A}"/>
              </a:ext>
            </a:extLst>
          </p:cNvPr>
          <p:cNvSpPr txBox="1">
            <a:spLocks noChangeArrowheads="1"/>
          </p:cNvSpPr>
          <p:nvPr/>
        </p:nvSpPr>
        <p:spPr bwMode="auto">
          <a:xfrm>
            <a:off x="1908175" y="5949950"/>
            <a:ext cx="57647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it-IT" altLang="it-IT" sz="3200"/>
              <a:t>complessità nel caso migliore?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684"/>
                                        </p:tgtEl>
                                        <p:attrNameLst>
                                          <p:attrName>style.visibility</p:attrName>
                                        </p:attrNameLst>
                                      </p:cBhvr>
                                      <p:to>
                                        <p:strVal val="visible"/>
                                      </p:to>
                                    </p:set>
                                    <p:animEffect transition="in" filter="fade">
                                      <p:cBhvr>
                                        <p:cTn id="7" dur="2000"/>
                                        <p:tgtEl>
                                          <p:spTgt spid="71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8" name="Picture 4">
            <a:extLst>
              <a:ext uri="{FF2B5EF4-FFF2-40B4-BE49-F238E27FC236}">
                <a16:creationId xmlns:a16="http://schemas.microsoft.com/office/drawing/2014/main" id="{AAB0350A-A2EB-4847-894C-A415649B4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76300"/>
            <a:ext cx="7488237"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9269" name="Text Box 5">
            <a:extLst>
              <a:ext uri="{FF2B5EF4-FFF2-40B4-BE49-F238E27FC236}">
                <a16:creationId xmlns:a16="http://schemas.microsoft.com/office/drawing/2014/main" id="{6CDAB76B-12DB-4580-8077-A4C1FBD6D53A}"/>
              </a:ext>
            </a:extLst>
          </p:cNvPr>
          <p:cNvSpPr txBox="1">
            <a:spLocks noChangeArrowheads="1"/>
          </p:cNvSpPr>
          <p:nvPr/>
        </p:nvSpPr>
        <p:spPr bwMode="auto">
          <a:xfrm>
            <a:off x="0" y="189000"/>
            <a:ext cx="9144000" cy="1237262"/>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defPPr>
              <a:defRPr lang="it-IT"/>
            </a:defPPr>
            <a:lvl1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defRPr sz="4000" spc="-1">
                <a:solidFill>
                  <a:srgbClr val="FF0000"/>
                </a:solidFill>
                <a:latin typeface="Calibri" panose="020F0502020204030204" pitchFamily="34" charset="0"/>
                <a:cs typeface="Calibri" panose="020F0502020204030204" pitchFamily="34" charset="0"/>
              </a:defRPr>
            </a:lvl1pPr>
          </a:lstStyle>
          <a:p>
            <a:r>
              <a:rPr lang="it-IT" altLang="it-IT" dirty="0"/>
              <a:t>Caso migliore: O(n log n), partizionamento sempre bilanciato</a:t>
            </a:r>
          </a:p>
        </p:txBody>
      </p:sp>
      <p:sp>
        <p:nvSpPr>
          <p:cNvPr id="139270" name="Text Box 6">
            <a:extLst>
              <a:ext uri="{FF2B5EF4-FFF2-40B4-BE49-F238E27FC236}">
                <a16:creationId xmlns:a16="http://schemas.microsoft.com/office/drawing/2014/main" id="{58906B2C-42E7-429B-8E77-8CF2F74217E0}"/>
              </a:ext>
            </a:extLst>
          </p:cNvPr>
          <p:cNvSpPr txBox="1">
            <a:spLocks noChangeArrowheads="1"/>
          </p:cNvSpPr>
          <p:nvPr/>
        </p:nvSpPr>
        <p:spPr bwMode="auto">
          <a:xfrm>
            <a:off x="6102350" y="6080125"/>
            <a:ext cx="1998663" cy="396875"/>
          </a:xfrm>
          <a:prstGeom prst="rect">
            <a:avLst/>
          </a:prstGeom>
          <a:solidFill>
            <a:schemeClr val="bg1"/>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it-IT" sz="2000"/>
              <a:t>Totale: </a:t>
            </a:r>
            <a:r>
              <a:rPr lang="en-US" altLang="it-IT" sz="2000" i="1"/>
              <a:t>cn </a:t>
            </a:r>
            <a:r>
              <a:rPr lang="en-US" altLang="it-IT" sz="2000"/>
              <a:t>log </a:t>
            </a:r>
            <a:r>
              <a:rPr lang="en-US" altLang="it-IT" sz="2000" i="1"/>
              <a:t>n</a:t>
            </a:r>
            <a:endParaRPr lang="en-US" altLang="it-IT"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71DA78DC-ACB7-4E24-9D73-EA29111F5E70}"/>
              </a:ext>
            </a:extLst>
          </p:cNvPr>
          <p:cNvSpPr>
            <a:spLocks noGrp="1" noChangeArrowheads="1"/>
          </p:cNvSpPr>
          <p:nvPr>
            <p:ph type="title" idx="4294967295"/>
          </p:nvPr>
        </p:nvSpPr>
        <p:spPr>
          <a:xfrm>
            <a:off x="685800" y="320675"/>
            <a:ext cx="7772400" cy="731838"/>
          </a:xfr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altLang="it-IT" sz="4000" spc="-1" dirty="0">
                <a:solidFill>
                  <a:srgbClr val="FF0000"/>
                </a:solidFill>
                <a:latin typeface="Calibri" panose="020F0502020204030204" pitchFamily="34" charset="0"/>
                <a:ea typeface="+mn-ea"/>
                <a:cs typeface="Calibri" panose="020F0502020204030204" pitchFamily="34" charset="0"/>
              </a:rPr>
              <a:t>…intuizioni sul caso medio…</a:t>
            </a:r>
          </a:p>
        </p:txBody>
      </p:sp>
      <p:sp>
        <p:nvSpPr>
          <p:cNvPr id="142339" name="Rectangle 3">
            <a:extLst>
              <a:ext uri="{FF2B5EF4-FFF2-40B4-BE49-F238E27FC236}">
                <a16:creationId xmlns:a16="http://schemas.microsoft.com/office/drawing/2014/main" id="{5419726F-0737-49C8-9A8F-87FF169ACABF}"/>
              </a:ext>
            </a:extLst>
          </p:cNvPr>
          <p:cNvSpPr>
            <a:spLocks noGrp="1" noChangeArrowheads="1"/>
          </p:cNvSpPr>
          <p:nvPr>
            <p:ph type="body" idx="4294967295"/>
          </p:nvPr>
        </p:nvSpPr>
        <p:spPr>
          <a:xfrm>
            <a:off x="395288" y="1268413"/>
            <a:ext cx="8424862" cy="4392612"/>
          </a:xfrm>
        </p:spPr>
        <p:txBody>
          <a:bodyPr/>
          <a:lstStyle/>
          <a:p>
            <a:pPr>
              <a:lnSpc>
                <a:spcPct val="90000"/>
              </a:lnSpc>
            </a:pPr>
            <a:r>
              <a:rPr lang="it-IT" altLang="it-IT" sz="2800" dirty="0"/>
              <a:t>problema: la partizione può essere sbilanciata</a:t>
            </a:r>
          </a:p>
          <a:p>
            <a:pPr>
              <a:lnSpc>
                <a:spcPct val="90000"/>
              </a:lnSpc>
            </a:pPr>
            <a:r>
              <a:rPr lang="it-IT" altLang="it-IT" sz="2800" dirty="0"/>
              <a:t>la probabilità che ad ogni passo si presenti la partizione peggiore è molto bassa</a:t>
            </a:r>
          </a:p>
          <a:p>
            <a:pPr>
              <a:lnSpc>
                <a:spcPct val="90000"/>
              </a:lnSpc>
            </a:pPr>
            <a:r>
              <a:rPr lang="it-IT" altLang="it-IT" sz="2800" dirty="0"/>
              <a:t>per partizioni che non sono “troppo sbilanciate” l’algoritmo è veloce</a:t>
            </a:r>
          </a:p>
          <a:p>
            <a:pPr>
              <a:lnSpc>
                <a:spcPct val="90000"/>
              </a:lnSpc>
            </a:pPr>
            <a:r>
              <a:rPr lang="it-IT" altLang="it-IT" sz="2800" dirty="0"/>
              <a:t>…la complessità è ancora O(n log n)</a:t>
            </a:r>
          </a:p>
          <a:p>
            <a:pPr>
              <a:lnSpc>
                <a:spcPct val="90000"/>
              </a:lnSpc>
            </a:pPr>
            <a:endParaRPr lang="it-IT" altLang="it-IT" sz="2800" dirty="0"/>
          </a:p>
          <a:p>
            <a:pPr>
              <a:lnSpc>
                <a:spcPct val="90000"/>
              </a:lnSpc>
            </a:pPr>
            <a:endParaRPr lang="it-IT" altLang="it-IT" sz="2800" dirty="0"/>
          </a:p>
          <a:p>
            <a:pPr>
              <a:lnSpc>
                <a:spcPct val="90000"/>
              </a:lnSpc>
            </a:pPr>
            <a:endParaRPr lang="it-IT" altLang="it-IT" sz="2800" dirty="0"/>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9CE4ACF4375A4C8C0602FFE49177BE" ma:contentTypeVersion="6" ma:contentTypeDescription="Create a new document." ma:contentTypeScope="" ma:versionID="82a94c78be15446697ccc96dbbd817c7">
  <xsd:schema xmlns:xsd="http://www.w3.org/2001/XMLSchema" xmlns:xs="http://www.w3.org/2001/XMLSchema" xmlns:p="http://schemas.microsoft.com/office/2006/metadata/properties" xmlns:ns2="9f742c12-864c-4ce5-b6f6-1feb9fbefa8b" xmlns:ns3="368b7124-ee9b-43bd-a59a-62348eb2d076" targetNamespace="http://schemas.microsoft.com/office/2006/metadata/properties" ma:root="true" ma:fieldsID="3d066933c85ad0744444035c00985e91" ns2:_="" ns3:_="">
    <xsd:import namespace="9f742c12-864c-4ce5-b6f6-1feb9fbefa8b"/>
    <xsd:import namespace="368b7124-ee9b-43bd-a59a-62348eb2d07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742c12-864c-4ce5-b6f6-1feb9fbefa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8b7124-ee9b-43bd-a59a-62348eb2d07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D914BCE-8EC0-498A-A12F-F4C64FED07B7}"/>
</file>

<file path=customXml/itemProps2.xml><?xml version="1.0" encoding="utf-8"?>
<ds:datastoreItem xmlns:ds="http://schemas.openxmlformats.org/officeDocument/2006/customXml" ds:itemID="{B4804F9B-0A79-4BB6-ABF0-CCF5722AE0C7}"/>
</file>

<file path=customXml/itemProps3.xml><?xml version="1.0" encoding="utf-8"?>
<ds:datastoreItem xmlns:ds="http://schemas.openxmlformats.org/officeDocument/2006/customXml" ds:itemID="{915BD804-1E2A-435B-A281-8B0A5800F4A2}"/>
</file>

<file path=docProps/app.xml><?xml version="1.0" encoding="utf-8"?>
<Properties xmlns="http://schemas.openxmlformats.org/officeDocument/2006/extended-properties" xmlns:vt="http://schemas.openxmlformats.org/officeDocument/2006/docPropsVTypes">
  <Template/>
  <TotalTime>65</TotalTime>
  <Words>661</Words>
  <Application>Microsoft Office PowerPoint</Application>
  <PresentationFormat>Presentazione su schermo (4:3)</PresentationFormat>
  <Paragraphs>54</Paragraphs>
  <Slides>10</Slides>
  <Notes>3</Notes>
  <HiddenSlides>0</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10</vt:i4>
      </vt:variant>
    </vt:vector>
  </HeadingPairs>
  <TitlesOfParts>
    <vt:vector size="18" baseType="lpstr">
      <vt:lpstr>Arial</vt:lpstr>
      <vt:lpstr>Calibri</vt:lpstr>
      <vt:lpstr>inherit</vt:lpstr>
      <vt:lpstr>Raleway</vt:lpstr>
      <vt:lpstr>Roboto Slab</vt:lpstr>
      <vt:lpstr>Tahoma</vt:lpstr>
      <vt:lpstr>Times New Roman</vt:lpstr>
      <vt:lpstr>1_Office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…intuizioni sul caso medio…</vt:lpstr>
    </vt:vector>
  </TitlesOfParts>
  <Company>ucl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Tecnica industriale e commerciale Market-driven Management Professore J.J. Lambin</dc:title>
  <dc:subject/>
  <dc:creator>lambin</dc:creator>
  <dc:description/>
  <cp:lastModifiedBy>Massimo Orazio Spata</cp:lastModifiedBy>
  <cp:revision>350</cp:revision>
  <cp:lastPrinted>1999-03-05T00:48:02Z</cp:lastPrinted>
  <dcterms:created xsi:type="dcterms:W3CDTF">1999-01-19T02:07:12Z</dcterms:created>
  <dcterms:modified xsi:type="dcterms:W3CDTF">2023-04-27T06:25:10Z</dcterms:modified>
  <dc:language>it-IT</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0</vt:r8>
  </property>
  <property fmtid="{D5CDD505-2E9C-101B-9397-08002B2CF9AE}" pid="3" name="HyperlinksChanged">
    <vt:bool>false</vt:bool>
  </property>
  <property fmtid="{D5CDD505-2E9C-101B-9397-08002B2CF9AE}" pid="4" name="LinksUpToDate">
    <vt:bool>false</vt:bool>
  </property>
  <property fmtid="{D5CDD505-2E9C-101B-9397-08002B2CF9AE}" pid="5" name="MMClips">
    <vt:r8>0</vt:r8>
  </property>
  <property fmtid="{D5CDD505-2E9C-101B-9397-08002B2CF9AE}" pid="6" name="Notes">
    <vt:r8>1</vt:r8>
  </property>
  <property fmtid="{D5CDD505-2E9C-101B-9397-08002B2CF9AE}" pid="7" name="PresentationFormat">
    <vt:lpwstr>Presentazione su schermo (4:3)</vt:lpwstr>
  </property>
  <property fmtid="{D5CDD505-2E9C-101B-9397-08002B2CF9AE}" pid="8" name="ScaleCrop">
    <vt:bool>false</vt:bool>
  </property>
  <property fmtid="{D5CDD505-2E9C-101B-9397-08002B2CF9AE}" pid="9" name="ShareDoc">
    <vt:bool>false</vt:bool>
  </property>
  <property fmtid="{D5CDD505-2E9C-101B-9397-08002B2CF9AE}" pid="10" name="Slides">
    <vt:r8>2</vt:r8>
  </property>
  <property fmtid="{D5CDD505-2E9C-101B-9397-08002B2CF9AE}" pid="11" name="ContentTypeId">
    <vt:lpwstr>0x010100CD9CE4ACF4375A4C8C0602FFE49177BE</vt:lpwstr>
  </property>
</Properties>
</file>